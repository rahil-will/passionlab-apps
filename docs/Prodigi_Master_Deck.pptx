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embeddedFontLst>
    <p:embeddedFont>
      <p:font typeface="Montserrat ExtraBold"/>
      <p:regular r:id="rIdF1"/>
    </p:embeddedFont>
    <p:embeddedFont>
      <p:font typeface="Montserrat SemiBold"/>
      <p:regular r:id="rIdF2"/>
    </p:embeddedFont>
    <p:embeddedFont>
      <p:font typeface="Montserrat Medium"/>
      <p:regular r:id="rIdF3"/>
    </p:embeddedFont>
    <p:embeddedFont>
      <p:font typeface="Montserrat"/>
      <p:regular r:id="rIdF4"/>
    </p:embeddedFont>
    <p:embeddedFont>
      <p:font typeface="Inter"/>
      <p:regular r:id="rIdF5"/>
    </p:embeddedFont>
    <p:embeddedFont>
      <p:font typeface="Inter Medium"/>
      <p:regular r:id="rIdF6"/>
    </p:embeddedFont>
    <p:embeddedFont>
      <p:font typeface="Inter SemiBold"/>
      <p:regular r:id="rIdF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F1" Type="http://schemas.openxmlformats.org/officeDocument/2006/relationships/font" Target="fonts/font1.fntdata"/><Relationship Id="rIdF2" Type="http://schemas.openxmlformats.org/officeDocument/2006/relationships/font" Target="fonts/font2.fntdata"/><Relationship Id="rIdF3" Type="http://schemas.openxmlformats.org/officeDocument/2006/relationships/font" Target="fonts/font3.fntdata"/><Relationship Id="rIdF4" Type="http://schemas.openxmlformats.org/officeDocument/2006/relationships/font" Target="fonts/font4.fntdata"/><Relationship Id="rIdF5" Type="http://schemas.openxmlformats.org/officeDocument/2006/relationships/font" Target="fonts/font5.fntdata"/><Relationship Id="rIdF6" Type="http://schemas.openxmlformats.org/officeDocument/2006/relationships/font" Target="fonts/font6.fntdata"/><Relationship Id="rIdF7" Type="http://schemas.openxmlformats.org/officeDocument/2006/relationships/font" Target="fonts/font7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Output</c:v>
                </c:pt>
              </c:strCache>
            </c:strRef>
          </c:tx>
          <c:spPr>
            <a:solidFill>
              <a:srgbClr val="4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556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</c:v>
                </c:pt>
                <c:pt idx="1">
                  <c:v>620</c:v>
                </c:pt>
                <c:pt idx="2">
                  <c:v>580</c:v>
                </c:pt>
                <c:pt idx="3">
                  <c:v>660</c:v>
                </c:pt>
                <c:pt idx="4">
                  <c:v>640</c:v>
                </c:pt>
                <c:pt idx="5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556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568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factories have ERP/PLM but nothing that owns production. Prodigi is that. Plan + track +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pitch: production is the unowned gap. Prodigi fills exactly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+ capture + measure. Same system = plan vs actual is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snapshot — the "everything" view before we go deep.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spine recurs. Each chapter = one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 (cutting) / standard / terminal (shipment). Both bookends can recur.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/ Outsource / Store. This flexibility fits any factory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 optional. Produce captured 4 ways. Next slides detail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Multi-image slide: four capture screens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Cutting is deliberately its own capture, the piece-count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Workforce = headcount_by_category per dept/shift/date on the allocation. The efficiency denominator, across all capture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= mandatory spine. Audit = optional, never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provisions, Web configures+plans, Floor captures.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ships to customers. How RBC provisions a private instance.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= production manager / planner. Everything configured before floor captures.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order record drives everything downstream.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Flexible flow = payoff of the department model. Frozen on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planned, operators see the style on their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Composition: assigned ops ∩ dept apps ∩ entitlements.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Multi-image: three capture screens as the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creates a digital challan shown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Receiver confirms or amends. Disputes = tracked losses with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Outsource = two-leg handover. Vendor stays inside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= time axis. Style = order axis.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the 2-4 hour manual Excel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Bottleneck spotting, replan, buyer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One-screen morning review; click through to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chapter. These are the integrity rules a technical buyer asks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RLS on every tenant table. Entitlements cap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Enforcement at DB. Route guards are UX-only.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→ Query → Supabase client → RLS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needs workforce — tie back to the workforce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per persona,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loop + pilot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pic>
        <p:nvPicPr>
          <p:cNvPr id="3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1005840" cy="987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B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RAJESH BHEDA CONSULTING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30352" y="2240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spc="-10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Prodigi</a:t>
            </a:r>
            <a:endParaRPr lang="en-US" sz="8800" dirty="0"/>
          </a:p>
        </p:txBody>
      </p:sp>
      <p:sp>
        <p:nvSpPr>
          <p:cNvPr id="6" name="Shape 3"/>
          <p:cNvSpPr/>
          <p:nvPr/>
        </p:nvSpPr>
        <p:spPr>
          <a:xfrm>
            <a:off x="603504" y="3639312"/>
            <a:ext cx="2011680" cy="457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your production and track its execution — in one place, built for garment factories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3504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3504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&amp; date allocation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03904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Capture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803904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hourly · QC · batch · cutting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04304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Know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004304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KPIs, same day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85216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88A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PRESENTATION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Every factory has systems — except for production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owns the money, PLM owns development, and the floor owns... spreadsheets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ERP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86968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orders, finance, payroll, materials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42816" y="196596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62856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62856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packs, BOM, development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18704" y="196596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38744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654E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Excel &amp; paper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38744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actual production floor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38744" y="32461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A5654E"/>
          </a:solidFill>
          <a:ln/>
        </p:spPr>
      </p:sp>
      <p:sp>
        <p:nvSpPr>
          <p:cNvPr id="16" name="Text 13"/>
          <p:cNvSpPr/>
          <p:nvPr/>
        </p:nvSpPr>
        <p:spPr>
          <a:xfrm>
            <a:off x="8238744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GAP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21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66928" y="434340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4A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617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Prodigi owns production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system to plan the making of the garment and track its execution — the layer most factories have never had. It feeds the ERP; it never replaces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What Prodigi 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production system: plan, capture, and measure the making of every order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6968" y="2331720"/>
            <a:ext cx="658368" cy="658368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86968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6968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colorways to lines and dates. Apply a routing. Set targets from SAM and workforce.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42816" y="201168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2856" y="2331720"/>
            <a:ext cx="658368" cy="658368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4562856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▣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62856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Capture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62856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real output on the floor — hourly, piece-wise QC, batch, or native cutting.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18704" y="2011680"/>
            <a:ext cx="3456432" cy="2651760"/>
          </a:xfrm>
          <a:prstGeom prst="roundRect">
            <a:avLst>
              <a:gd name="adj" fmla="val 3448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38744" y="2331720"/>
            <a:ext cx="658368" cy="658368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8" name="Text 15"/>
          <p:cNvSpPr/>
          <p:nvPr/>
        </p:nvSpPr>
        <p:spPr>
          <a:xfrm>
            <a:off x="8238744" y="2331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◷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238744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Measure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238744" y="36576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output and workforce into efficiency, DHU, fulfillment and OTIF — same day.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93776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FEAF3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point: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and execution live in the same system — so the number you planned and the number you made are finally comparable, in real time.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One system, the whole production picture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below shares one order, one plan, and one set of KPIs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74520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756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Flexible departments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 · standard · terminal, each with a role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1568" y="18745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1568" y="1874520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0756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capture modes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657600" y="26060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hourly · QC · batch · native cutting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8745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1874520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0756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Workforce tracking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92240" y="26060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 by category, tied to output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70848" y="187452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70848" y="1874520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207568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Mandatory handover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326880" y="26060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WIP integrity between every step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3392424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3392424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5935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Planning &amp; routing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2960" y="412394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line/date allocation with SAM targets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01568" y="3392424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01568" y="3392424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0" y="35935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Live reports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3657600" y="412394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day, style, dashboard — no overnight batch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36208" y="3392424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36208" y="3392424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2" name="Text 29"/>
          <p:cNvSpPr/>
          <p:nvPr/>
        </p:nvSpPr>
        <p:spPr>
          <a:xfrm>
            <a:off x="6492240" y="35935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Outsource tracing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492240" y="412394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two-leg vendor send &amp; receive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070848" y="3392424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70848" y="3392424"/>
            <a:ext cx="64008" cy="137160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6" name="Text 33"/>
          <p:cNvSpPr/>
          <p:nvPr/>
        </p:nvSpPr>
        <p:spPr>
          <a:xfrm>
            <a:off x="9326880" y="35935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Role-based floor app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326880" y="412394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what each user needs to tap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66928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rest of this deck walks each of these — and how they connect into one loop.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production loop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flows to the floor; the floor flows back to insight — one continuous spine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58368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departments, flows, users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33472" y="246888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52928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FEAF3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292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26080" y="3108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lines, apply routing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28032" y="246888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47488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4748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CAPTURE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108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+ workforce on the floor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022592" y="246888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242048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FEAF3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HANDOVER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3108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WIP, reconciled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217152" y="246888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436608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36608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REPORT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509760" y="3108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KPIs, day &amp; style, dashboard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08D6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↩  reports feed the next plan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66928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chapter that follows is one node on this loop. Nothing sits outside it — that is what makes Prodigi a system, not a set of tools.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It starts with departments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structural kinds, and a role that defines what each one does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Every department is one of three kinds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 and terminal bookend the flow; everything between is standard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58368" y="22860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4A3A5C"/>
          </a:solidFill>
          <a:ln w="12700">
            <a:solidFill>
              <a:srgbClr val="4A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8408" y="2606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ORIGIN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78408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Where pieces enter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78408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Usually Cutting — the source of truth for piece count. Can recur.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41648" y="2286000"/>
            <a:ext cx="502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44568" y="22860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D9CCE3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64608" y="2606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60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64608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733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working middle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64608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other department. Carries a role that defines its behaviour.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27848" y="2286000"/>
            <a:ext cx="502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8430768" y="228600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4A3A5C"/>
          </a:solidFill>
          <a:ln w="12700">
            <a:solidFill>
              <a:srgbClr val="4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26060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20" name="Text 17"/>
          <p:cNvSpPr/>
          <p:nvPr/>
        </p:nvSpPr>
        <p:spPr>
          <a:xfrm>
            <a:off x="8750808" y="2606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750808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Where pieces leave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750808" y="3657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/ dispatch — closes the colorway and drives OTIF.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8368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department’s kind is structural — it fixes position in the flow. Origin and terminal can both recur across a routing.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standard department carries a role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role decides what the department actually does on the floor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1488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FEAF3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2148840"/>
            <a:ext cx="91440" cy="1188720"/>
          </a:xfrm>
          <a:prstGeom prst="rect">
            <a:avLst/>
          </a:prstGeom>
          <a:solidFill>
            <a:srgbClr val="4A3A5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42316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231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89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Adds value to pieces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2648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brings WIP onto the line; Produce does the work — captured hourly, by QC, or by batch.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502152"/>
            <a:ext cx="91440" cy="11887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3776472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776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OUTSOURCE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08960" y="36850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Sends work to a vendor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26480" y="368503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and receive goods size-wise to an external vendor and back — fully traced by handover.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6928" y="4855464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" y="4855464"/>
            <a:ext cx="91440" cy="1188720"/>
          </a:xfrm>
          <a:prstGeom prst="rect">
            <a:avLst/>
          </a:prstGeom>
          <a:solidFill>
            <a:srgbClr val="5B5568"/>
          </a:solidFill>
          <a:ln/>
        </p:spPr>
      </p:sp>
      <p:sp>
        <p:nvSpPr>
          <p:cNvPr id="20" name="Shape 17"/>
          <p:cNvSpPr/>
          <p:nvPr/>
        </p:nvSpPr>
        <p:spPr>
          <a:xfrm>
            <a:off x="868680" y="512978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5B5568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1297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108960" y="503834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Holds pieces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5038344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Passive. No production capture — pieces simply rest here between steps.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Inside a production department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brings work in; Produce adds the value and is captured four ways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2402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A78BB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LOADING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Work arriving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input count — pieces loaded onto the resource. Optional: use only where intake must be recorded separately from output.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86200" y="1965960"/>
            <a:ext cx="457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7196328" cy="4114800"/>
          </a:xfrm>
          <a:prstGeom prst="roundRect">
            <a:avLst>
              <a:gd name="adj" fmla="val 2222"/>
            </a:avLst>
          </a:prstGeom>
          <a:solidFill>
            <a:srgbClr val="4A3A5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22402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17720" y="2788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output — captured four ways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17720" y="3337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6E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Hourly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4632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size-wise, per shift hour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955280" y="33375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6E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QC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8388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piece-wise pass/fail/rework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4572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6E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Batch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463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count per batch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955280" y="45720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6E5A82"/>
          </a:solidFill>
          <a:ln/>
        </p:spPr>
      </p:sp>
      <p:sp>
        <p:nvSpPr>
          <p:cNvPr id="26" name="Text 23"/>
          <p:cNvSpPr/>
          <p:nvPr/>
        </p:nvSpPr>
        <p:spPr>
          <a:xfrm>
            <a:off x="818388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Cutting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8388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 report at origin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Four ways to capture — the right tool per operation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floor app renders whichever capture the routing specifies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2688336" cy="2286000"/>
          </a:xfrm>
          <a:prstGeom prst="roundRect">
            <a:avLst>
              <a:gd name="adj" fmla="val 3200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618488" y="251460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161848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31546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43434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Hourly output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7091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Sewing, finishing, packing — hour-by-hour size-wise tally against target.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01568" y="1920240"/>
            <a:ext cx="2688336" cy="2286000"/>
          </a:xfrm>
          <a:prstGeom prst="roundRect">
            <a:avLst>
              <a:gd name="adj" fmla="val 3200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453128" y="251460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01568" y="31546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01568" y="43434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Piece-wise QC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01568" y="47091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pass / fail / rework with defect codes. DHU at source.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6208" y="1920240"/>
            <a:ext cx="2688336" cy="2286000"/>
          </a:xfrm>
          <a:prstGeom prst="roundRect">
            <a:avLst>
              <a:gd name="adj" fmla="val 3200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7287768" y="251460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0" name="Text 17"/>
          <p:cNvSpPr/>
          <p:nvPr/>
        </p:nvSpPr>
        <p:spPr>
          <a:xfrm>
            <a:off x="728776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236208" y="31546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36208" y="43434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Batch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36208" y="47091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Washing, curing, ovens — one count per completed batch.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070848" y="1920240"/>
            <a:ext cx="2688336" cy="2286000"/>
          </a:xfrm>
          <a:prstGeom prst="roundRect">
            <a:avLst>
              <a:gd name="adj" fmla="val 3200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10122408" y="251460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6" name="Text 23"/>
          <p:cNvSpPr/>
          <p:nvPr/>
        </p:nvSpPr>
        <p:spPr>
          <a:xfrm>
            <a:off x="10122408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070848" y="315468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070848" y="43434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Native cutting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70848" y="4709160"/>
            <a:ext cx="2688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 report → bundles. The origin source of truth for pieces.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Native cutting — the piece-count source of truth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purpose-built capture at origin, not a generic form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Create lay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3464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Fabric &amp; plies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Cut qty by size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Bundles generated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3544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41832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941832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Feeds cut-to-ship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2743200"/>
            <a:ext cx="6675120" cy="3337560"/>
          </a:xfrm>
          <a:prstGeom prst="roundRect">
            <a:avLst>
              <a:gd name="adj" fmla="val 2192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611880" y="386334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8633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66928" y="45034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9808" y="47777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Cutting lay report — fabric, plies, size-wise cut quantities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52360" y="2743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native, not a form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52360" y="3246120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27" name="Text 24"/>
          <p:cNvSpPr/>
          <p:nvPr/>
        </p:nvSpPr>
        <p:spPr>
          <a:xfrm>
            <a:off x="745236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863840" y="32186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 → bundles as a real outcome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52360" y="3813048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0" name="Text 27"/>
          <p:cNvSpPr/>
          <p:nvPr/>
        </p:nvSpPr>
        <p:spPr>
          <a:xfrm>
            <a:off x="745236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63840" y="3785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Multi-fabric components per style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452360" y="4379976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3" name="Text 30"/>
          <p:cNvSpPr/>
          <p:nvPr/>
        </p:nvSpPr>
        <p:spPr>
          <a:xfrm>
            <a:off x="745236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863840" y="4352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qty is the fulfillment denominator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452360" y="4946904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6" name="Text 33"/>
          <p:cNvSpPr/>
          <p:nvPr/>
        </p:nvSpPr>
        <p:spPr>
          <a:xfrm>
            <a:off x="745236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63840" y="4919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 can recur (block + fixed cut)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52360" y="5513832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9" name="Text 36"/>
          <p:cNvSpPr/>
          <p:nvPr/>
        </p:nvSpPr>
        <p:spPr>
          <a:xfrm>
            <a:off x="7452360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863840" y="5486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Feeds every downstream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Workforce — the denominator that makes KPIs real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alone is a number; output against people and time is efficiency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Captured alongside output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log headcount by category — per department, shift and date — against the same line allocation the output is captured 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931920"/>
            <a:ext cx="4800600" cy="1783080"/>
          </a:xfrm>
          <a:prstGeom prst="roundRect">
            <a:avLst>
              <a:gd name="adj" fmla="val 4103"/>
            </a:avLst>
          </a:prstGeom>
          <a:solidFill>
            <a:srgbClr val="6E5A82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Efficiency 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" y="4572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× SAM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97280" y="4983480"/>
            <a:ext cx="3291840" cy="18288"/>
          </a:xfrm>
          <a:prstGeom prst="rect">
            <a:avLst/>
          </a:prstGeom>
          <a:solidFill>
            <a:srgbClr val="A78BB5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5029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headcount × minutes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workforce = no efficiency. That is why it is captured, not assumed.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Works with every capture type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423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headcount attaches to the allocation — not the capture method — it powers efficiency for hourly, batch and QC alike.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342900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12280" y="3410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Headcount by category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operators, helpers, checkers — split as needed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411480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12280" y="40965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 shift &amp; date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tied to the exact allocation being run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480060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12280" y="4782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Feeds efficiency &amp; productivity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every report and the dashboard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309360" y="548640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12280" y="54681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Capacity vs actual  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line, then see how it really ran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Two capabilities every department shares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 and audit sit across the factory, regardless of department kind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6675120" cy="4114800"/>
          </a:xfrm>
          <a:prstGeom prst="roundRect">
            <a:avLst>
              <a:gd name="adj" fmla="val 2222"/>
            </a:avLst>
          </a:prstGeom>
          <a:solidFill>
            <a:srgbClr val="4A3A5C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24028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402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HANDOVER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WIP spine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Pieces cannot appear in the next department unless this one logged a handover. Every movement creates a digital challan — sent, received, reconciled. This is what makes work-in-progress real instead of guessed.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78BB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On every department except terminal.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52360" y="1965960"/>
            <a:ext cx="4087368" cy="4114800"/>
          </a:xfrm>
          <a:prstGeom prst="roundRect">
            <a:avLst>
              <a:gd name="adj" fmla="val 2237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54112" y="22402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A78BB5"/>
          </a:solidFill>
          <a:ln/>
        </p:spPr>
      </p:sp>
      <p:sp>
        <p:nvSpPr>
          <p:cNvPr id="14" name="Text 11"/>
          <p:cNvSpPr/>
          <p:nvPr/>
        </p:nvSpPr>
        <p:spPr>
          <a:xfrm>
            <a:off x="7754112" y="22402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AUDIT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54112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Optional AQL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754112" y="33375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department may run a sampling audit for buyer compliance. It never blocks the flow — it runs alongside production on its own record.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54112" y="5440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Available where entitled.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HOW IT IS DELIVERED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Three applications, one spine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the factory, run it from the desk, capture it on the floor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Three applications, clear separation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surface is shaped to its user and its job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1168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78BB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202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D6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RBC superadmin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21945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Provisions the factory: identity, app entitlements, first admin. Never exposed to customers.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3832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FEAF3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38328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78BB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9202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Prodigi Web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920240" y="4041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D6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 · production manager · planner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35661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styles, configures the factory, plans lines, reads every report. The control room.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475488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5488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78BB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9202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Prodigi Floor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920240" y="5413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8D6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Operators · supervisors · QA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49377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actuals — output, workforce, handover, shipment. PIN login, built for the floor.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Supabase project · every factory isolated by row-level security · one shared production spine.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Onboarding — provisioning the factory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RBC-only. Creates the tenant without exposing service-role access to customers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984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Create factory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350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code, country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6112" y="2532888"/>
            <a:ext cx="18288" cy="384048"/>
          </a:xfrm>
          <a:prstGeom prst="rect">
            <a:avLst/>
          </a:prstGeom>
          <a:solidFill>
            <a:srgbClr val="A78BB5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Set entitlements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3310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capture apps the factory may use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" y="3493008"/>
            <a:ext cx="18288" cy="384048"/>
          </a:xfrm>
          <a:prstGeom prst="rect">
            <a:avLst/>
          </a:prstGeom>
          <a:solidFill>
            <a:srgbClr val="A78BB5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71600" y="3904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Create first admin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+ password, auto-confirmed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6112" y="4453128"/>
            <a:ext cx="18288" cy="384048"/>
          </a:xfrm>
          <a:prstGeom prst="rect">
            <a:avLst/>
          </a:prstGeom>
          <a:solidFill>
            <a:srgbClr val="A78BB5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4864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Hand off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5230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delivery of Factory ID &amp; credentials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26480" y="19659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8531352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7" name="Text 24"/>
          <p:cNvSpPr/>
          <p:nvPr/>
        </p:nvSpPr>
        <p:spPr>
          <a:xfrm>
            <a:off x="853135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12648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309360" y="4389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— factory creation with entitlement toggles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Prodigi Web — the control room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styles are created, the factory is configured, and lines are planned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52044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352044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Prodigi Web — dashboard with sidebar navigation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the admin does here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315200" y="2468880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63840" y="2432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Create styles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86384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buyer, colorways, sizes, shipment plan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0" y="3364992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63840" y="33284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Configure the factory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8638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departments, flows, shifts, users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15200" y="4261104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86384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 lines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8638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colorways to resources &amp; dates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15200" y="5157216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0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8638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Read every report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86384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day, style, dashboard, transaction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Creating a style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order record that drives routing, planning, capture, and every report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Header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3464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Colorways &amp; sizes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Shipment plan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04088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35440" y="187452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418320" y="1874520"/>
            <a:ext cx="2048256" cy="603504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9418320" y="18745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2743200"/>
            <a:ext cx="6675120" cy="3337560"/>
          </a:xfrm>
          <a:prstGeom prst="roundRect">
            <a:avLst>
              <a:gd name="adj" fmla="val 2192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611880" y="386334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8633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66928" y="45034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9808" y="47777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Order — colorway grid with size quantities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52360" y="2743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record, whole lifecycle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52360" y="3246120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27" name="Text 24"/>
          <p:cNvSpPr/>
          <p:nvPr/>
        </p:nvSpPr>
        <p:spPr>
          <a:xfrm>
            <a:off x="745236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863840" y="32186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Buyer, PO, dates, garment type, SAM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52360" y="3813048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0" name="Text 27"/>
          <p:cNvSpPr/>
          <p:nvPr/>
        </p:nvSpPr>
        <p:spPr>
          <a:xfrm>
            <a:off x="745236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863840" y="3785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Colorways with size-wise quantities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452360" y="4379976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3" name="Text 30"/>
          <p:cNvSpPr/>
          <p:nvPr/>
        </p:nvSpPr>
        <p:spPr>
          <a:xfrm>
            <a:off x="745236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863840" y="4352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plan lines for OTIF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452360" y="4946904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6" name="Text 33"/>
          <p:cNvSpPr/>
          <p:nvPr/>
        </p:nvSpPr>
        <p:spPr>
          <a:xfrm>
            <a:off x="7452360" y="4946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863840" y="4919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Cutting &amp; over-ship allowances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452360" y="5513832"/>
            <a:ext cx="310896" cy="310896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39" name="Text 36"/>
          <p:cNvSpPr/>
          <p:nvPr/>
        </p:nvSpPr>
        <p:spPr>
          <a:xfrm>
            <a:off x="7452360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863840" y="5486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save — no partial orders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Compose a flexible process flow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 become a reusable template — called into any order at planning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6E5A82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Cutting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6771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688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6E5A82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Printing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4688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outsource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9651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Sewing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976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2531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264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Finishing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264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75411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552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Packing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9552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58291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784080" y="2194560"/>
            <a:ext cx="1682496" cy="914400"/>
          </a:xfrm>
          <a:prstGeom prst="roundRect">
            <a:avLst>
              <a:gd name="adj" fmla="val 9000"/>
            </a:avLst>
          </a:prstGeom>
          <a:solidFill>
            <a:srgbClr val="6E5A82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84080" y="234086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Shipment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784080" y="27066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3429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is optional. Origin and outsource can recur. The same template serves every order that shares the flow — and it is frozen onto the order when applied, so history never rewrites.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66928" y="470916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1" name="Text 28"/>
          <p:cNvSpPr/>
          <p:nvPr/>
        </p:nvSpPr>
        <p:spPr>
          <a:xfrm>
            <a:off x="795528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template, many orders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4242816" y="470916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3" name="Text 30"/>
          <p:cNvSpPr/>
          <p:nvPr/>
        </p:nvSpPr>
        <p:spPr>
          <a:xfrm>
            <a:off x="4471416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Reorder or skip steps freely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7918704" y="470916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5" name="Text 32"/>
          <p:cNvSpPr/>
          <p:nvPr/>
        </p:nvSpPr>
        <p:spPr>
          <a:xfrm>
            <a:off x="8147304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Frozen onto the order when applied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Planning — assigning work to lines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colorways to resources over dates, with targets from SAM and workforce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74904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374904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Planning — Gantt with allocation bars per 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plan to floor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26680" y="2468880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75320" y="24323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Drag allocations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75320" y="27797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onto line &amp; date on the Gantt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26680" y="3364992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7" name="Text 14"/>
          <p:cNvSpPr/>
          <p:nvPr/>
        </p:nvSpPr>
        <p:spPr>
          <a:xfrm>
            <a:off x="772668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75320" y="33284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Set targets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75320" y="36758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target, SAM, workforce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26680" y="4261104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1" name="Text 18"/>
          <p:cNvSpPr/>
          <p:nvPr/>
        </p:nvSpPr>
        <p:spPr>
          <a:xfrm>
            <a:off x="77266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75320" y="4224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Apply routing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75320" y="4572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flow for this order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26680" y="5157216"/>
            <a:ext cx="402336" cy="40233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5" name="Text 22"/>
          <p:cNvSpPr/>
          <p:nvPr/>
        </p:nvSpPr>
        <p:spPr>
          <a:xfrm>
            <a:off x="7726680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27532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Floor hydrates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275320" y="5468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styles appear on operator hubs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ACTUALS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Onto the floor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becomes reality — captured tap by tap on the shop floor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Prodigi Floor — capture where work happens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 login, role-based tiles, built for tablets in factory light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83464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283464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home — operator tiles after PIN login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196596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Only what the user needs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89320" y="242316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home screen is composed from the user’s assigned operations, their department’s capabilities, and the factory’s entitlements — nothing more.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89320" y="3566160"/>
            <a:ext cx="402336" cy="402336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35478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Operators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tiles for their operations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89320" y="4389120"/>
            <a:ext cx="402336" cy="402336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37960" y="4370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Supervisors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 + workforce, not capture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89320" y="5212080"/>
            <a:ext cx="402336" cy="402336"/>
          </a:xfrm>
          <a:prstGeom prst="ellipse">
            <a:avLst/>
          </a:prstGeom>
          <a:solidFill>
            <a:srgbClr val="4A3A5C"/>
          </a:solidFill>
          <a:ln/>
        </p:spPr>
      </p:sp>
      <p:sp>
        <p:nvSpPr>
          <p:cNvPr id="20" name="Text 17"/>
          <p:cNvSpPr/>
          <p:nvPr/>
        </p:nvSpPr>
        <p:spPr>
          <a:xfrm>
            <a:off x="598932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▸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37960" y="5193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QA / terminal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shipment &amp; audit tiles only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Capture on the floor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Whatever the operation needs — the screen adapts, the data lands in one place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057400" y="27889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2057400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6928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Hourly output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66928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split per shift hour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19202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769864" y="27889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4" name="Text 11"/>
          <p:cNvSpPr/>
          <p:nvPr/>
        </p:nvSpPr>
        <p:spPr>
          <a:xfrm>
            <a:off x="5769864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279392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79392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Piece-wise QC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279392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/ fail / rework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91856" y="19202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9482328" y="27889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0" name="Text 17"/>
          <p:cNvSpPr/>
          <p:nvPr/>
        </p:nvSpPr>
        <p:spPr>
          <a:xfrm>
            <a:off x="9482328" y="2788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991856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91856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Batch &amp; cutting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991856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totals, lay reports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SPINE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handover challan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movement between departments, captured and reconciled digitally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Every movement becomes a digital challan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one department sends to the next, a challan is created and captured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01752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301752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 send — size-wise challan to the next department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1965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 the challan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55080" y="2450592"/>
            <a:ext cx="365760" cy="365760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24323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From → To  —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and receiving department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55080" y="3182112"/>
            <a:ext cx="365760" cy="365760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31638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Order &amp; colorway  —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what is moving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55080" y="3913632"/>
            <a:ext cx="365760" cy="365760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0" y="389534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Quantity by size  —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size-wise breakdown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55080" y="4645152"/>
            <a:ext cx="365760" cy="365760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0" y="462686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Challan number  —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traceable reference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355080" y="5376672"/>
            <a:ext cx="365760" cy="365760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5" name="Text 22"/>
          <p:cNvSpPr/>
          <p:nvPr/>
        </p:nvSpPr>
        <p:spPr>
          <a:xfrm>
            <a:off x="6355080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0" y="53583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Sender &amp; time  —  </a:t>
            </a:r>
            <a:pPr indent="0" marL="0"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sent, and when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Confirmation &amp; conformity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receiver confirms — and any mismatch is surfaced, not hidden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574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5F3F7"/>
          </a:solidFill>
          <a:ln w="22225">
            <a:solidFill>
              <a:srgbClr val="A78B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" y="260604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challan sent, awaiting receipt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08960" y="205740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01568" y="20574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5F3F7"/>
          </a:solidFill>
          <a:ln w="22225">
            <a:solidFill>
              <a:srgbClr val="5B8A6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1568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Received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11296" y="260604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receiver confirms match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205740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6208" y="20574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5F3F7"/>
          </a:solidFill>
          <a:ln w="22225">
            <a:solidFill>
              <a:srgbClr val="B08D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Disputed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45936" y="260604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received differs from sent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78240" y="205740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070848" y="20574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5F3F7"/>
          </a:solidFill>
          <a:ln w="22225">
            <a:solidFill>
              <a:srgbClr val="6E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224028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Reconciled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80576" y="260604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acknowledged &amp; closed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3520440"/>
            <a:ext cx="10972800" cy="2331720"/>
          </a:xfrm>
          <a:prstGeom prst="roundRect">
            <a:avLst>
              <a:gd name="adj" fmla="val 3922"/>
            </a:avLst>
          </a:prstGeom>
          <a:solidFill>
            <a:srgbClr val="EFEAF3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conformity matters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8680" y="42062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receiver either confirms the sent quantity or records what actually arrived. When counts differ, the slip is disputed — and the difference is resolved as a tracked loss with an owner, a remark and a closing action. The result is a clean, auditable WIP trail: what left one department always equals what the next accepted, plus any acknowledged loss in transit.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Outsourcing, fully traced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two-leg handover keeps WIP visible even through an external vendor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In-house dept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out-challan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5808" y="246888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19856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B08D6A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5701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External vendor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57016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the work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88736" y="246888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72784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Return challan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9944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sends back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41664" y="246888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125712" y="24688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4A3A5C"/>
          </a:solidFill>
          <a:ln w="12700">
            <a:solidFill>
              <a:srgbClr val="A78B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6287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Next dept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62872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into flow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4297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legs are challans. The pieces never leave the system — even while physically off-site — so reconciliation and OTIF stay accurate through printing, washing, or embroidery.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PAYOFF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Reports close the loop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data operators enter becomes management insight — same day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Two reports, two lenses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captured data, read along two different axes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240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4A3A5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DAY REPORT · TIME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“How did the factory do today?”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383280"/>
            <a:ext cx="329184" cy="329184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9844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output for a date range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005072"/>
            <a:ext cx="329184" cy="329184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98448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Handovers sent, received, disputed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626864"/>
            <a:ext cx="329184" cy="329184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98448" y="4599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from output + workforce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5248656"/>
            <a:ext cx="329184" cy="329184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98448" y="52212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morning-standup view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44768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4A3A5C"/>
          </a:solidFill>
          <a:ln/>
        </p:spPr>
      </p:sp>
      <p:sp>
        <p:nvSpPr>
          <p:cNvPr id="23" name="Shape 20"/>
          <p:cNvSpPr/>
          <p:nvPr/>
        </p:nvSpPr>
        <p:spPr>
          <a:xfrm>
            <a:off x="6446520" y="22402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B08D6A"/>
          </a:solidFill>
          <a:ln/>
        </p:spPr>
      </p:sp>
      <p:sp>
        <p:nvSpPr>
          <p:cNvPr id="24" name="Text 21"/>
          <p:cNvSpPr/>
          <p:nvPr/>
        </p:nvSpPr>
        <p:spPr>
          <a:xfrm>
            <a:off x="6446520" y="2240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STYLE REPORT · ORDER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“How is this order progressing?”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46520" y="3383280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27" name="Text 24"/>
          <p:cNvSpPr/>
          <p:nvPr/>
        </p:nvSpPr>
        <p:spPr>
          <a:xfrm>
            <a:off x="644652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76288" y="3355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matrix across routing steps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46520" y="4005072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76288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output trend per department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46520" y="4626864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3" name="Text 30"/>
          <p:cNvSpPr/>
          <p:nvPr/>
        </p:nvSpPr>
        <p:spPr>
          <a:xfrm>
            <a:off x="6446520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76288" y="4599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Fulfillment &amp; cut-to-ship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446520" y="5248656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6" name="Text 33"/>
          <p:cNvSpPr/>
          <p:nvPr/>
        </p:nvSpPr>
        <p:spPr>
          <a:xfrm>
            <a:off x="644652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76288" y="52212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handover journey, end to end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Day Report — the time lens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performance for any date range — the morning review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65760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Report — department cards, hourly breakdown, handovers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4380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Answers each morning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3800" y="246888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2441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lines underperformed yesterday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543800" y="333756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6" name="Text 13"/>
          <p:cNvSpPr/>
          <p:nvPr/>
        </p:nvSpPr>
        <p:spPr>
          <a:xfrm>
            <a:off x="7543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3310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handovers are stuck in transit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43800" y="420624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19" name="Text 16"/>
          <p:cNvSpPr/>
          <p:nvPr/>
        </p:nvSpPr>
        <p:spPr>
          <a:xfrm>
            <a:off x="7543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0" y="4178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disputes need resolving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543800" y="5074920"/>
            <a:ext cx="384048" cy="384048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2" name="Text 19"/>
          <p:cNvSpPr/>
          <p:nvPr/>
        </p:nvSpPr>
        <p:spPr>
          <a:xfrm>
            <a:off x="75438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5047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staff the lines today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Style Report — the order lens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lifecycle of one order, end to end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657600" y="34747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Report — production matrix across routing steps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4380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order, end to end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3800" y="2468880"/>
            <a:ext cx="384048" cy="384048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Production matrix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0" y="2770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per step &amp; size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43800" y="3337560"/>
            <a:ext cx="384048" cy="384048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Daily charts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by day per department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43800" y="4206240"/>
            <a:ext cx="384048" cy="384048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21" name="Text 18"/>
          <p:cNvSpPr/>
          <p:nvPr/>
        </p:nvSpPr>
        <p:spPr>
          <a:xfrm>
            <a:off x="75438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04672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Fulfillment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0" y="4507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cut-to-ship &amp; OTIF parts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43800" y="5074920"/>
            <a:ext cx="384048" cy="384048"/>
          </a:xfrm>
          <a:prstGeom prst="ellipse">
            <a:avLst/>
          </a:prstGeom>
          <a:solidFill>
            <a:srgbClr val="EADFD3"/>
          </a:solidFill>
          <a:ln/>
        </p:spPr>
      </p:sp>
      <p:sp>
        <p:nvSpPr>
          <p:cNvPr id="25" name="Text 22"/>
          <p:cNvSpPr/>
          <p:nvPr/>
        </p:nvSpPr>
        <p:spPr>
          <a:xfrm>
            <a:off x="75438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6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046720" y="5047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Journey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0" y="5376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handover timeline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Dashboard — the factory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snapshot: fulfillment, output trend, and health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54864" cy="1005840"/>
          </a:xfrm>
          <a:prstGeom prst="rect">
            <a:avLst/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18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86384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orders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28416" y="1920240"/>
            <a:ext cx="54864" cy="1005840"/>
          </a:xfrm>
          <a:prstGeom prst="rect">
            <a:avLst/>
          </a:prstGeom>
          <a:solidFill>
            <a:srgbClr val="5B8A6F"/>
          </a:solidFill>
          <a:ln/>
        </p:spPr>
      </p:sp>
      <p:sp>
        <p:nvSpPr>
          <p:cNvPr id="10" name="Text 7"/>
          <p:cNvSpPr/>
          <p:nvPr/>
        </p:nvSpPr>
        <p:spPr>
          <a:xfrm>
            <a:off x="3529584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5B8A6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82%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547872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9904" y="1920240"/>
            <a:ext cx="54864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3" name="Text 10"/>
          <p:cNvSpPr/>
          <p:nvPr/>
        </p:nvSpPr>
        <p:spPr>
          <a:xfrm>
            <a:off x="6291072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08D6A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94%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309360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Cut-to-ship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51392" y="1920240"/>
            <a:ext cx="54864" cy="1005840"/>
          </a:xfrm>
          <a:prstGeom prst="rect">
            <a:avLst/>
          </a:prstGeom>
          <a:solidFill>
            <a:srgbClr val="6E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905256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6E5A8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88%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70848" y="25420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OTIF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66928" y="3200400"/>
          <a:ext cx="73152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8138160" y="3200400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F5F3F7"/>
          </a:solidFill>
          <a:ln w="15875">
            <a:solidFill>
              <a:srgbClr val="A78BB5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9546336" y="4046220"/>
            <a:ext cx="585216" cy="585216"/>
          </a:xfrm>
          <a:prstGeom prst="ellipse">
            <a:avLst/>
          </a:prstGeom>
          <a:solidFill>
            <a:srgbClr val="D9CCE3"/>
          </a:solidFill>
          <a:ln/>
        </p:spPr>
      </p:sp>
      <p:sp>
        <p:nvSpPr>
          <p:cNvPr id="21" name="Text 17"/>
          <p:cNvSpPr/>
          <p:nvPr/>
        </p:nvSpPr>
        <p:spPr>
          <a:xfrm>
            <a:off x="9546336" y="40462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5A8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▤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138160" y="46863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5A8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321040" y="496062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Cut-to-ship order list with buyer filter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2286000"/>
            <a:ext cx="82296" cy="21031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Built to be trusted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by design, secure at the database, honest in its numbers</a:t>
            </a:r>
            <a:endParaRPr lang="en-US" sz="1600" dirty="0"/>
          </a:p>
        </p:txBody>
      </p:sp>
      <p:pic>
        <p:nvPicPr>
          <p:cNvPr id="7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rules that keep the data honest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is enforced in the system, not left to discipline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74520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39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active session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department + order — you capture output or QC, never a double count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44768" y="18745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4768" y="1874520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039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Balance-capped entry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cannot log more than planned minus already produced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19125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3191256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355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Handover-gated WIP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3739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pieces cannot appear downstream without a logged movement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44768" y="3191256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44768" y="3191256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355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Frozen routing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3739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flow is snapshotted onto the order — history never rewrites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4507992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4507992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Workforce-backed KPIs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" y="5056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needs real headcount, so it is captured not assumed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44768" y="4507992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DAD3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4768" y="4507992"/>
            <a:ext cx="64008" cy="1170432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Reconciled losses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0" y="5056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dispute resolves to an owned, remarked, closed record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strict hierarchy, enforced in the database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is structural — every tenant row filtered by factory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10972800" cy="621792"/>
          </a:xfrm>
          <a:prstGeom prst="roundRect">
            <a:avLst>
              <a:gd name="adj" fmla="val 11765"/>
            </a:avLst>
          </a:prstGeom>
          <a:solidFill>
            <a:srgbClr val="B08D6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659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0" y="196596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project · RBC provisions tenants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24128" y="2679192"/>
            <a:ext cx="10515600" cy="621792"/>
          </a:xfrm>
          <a:prstGeom prst="roundRect">
            <a:avLst>
              <a:gd name="adj" fmla="val 11765"/>
            </a:avLst>
          </a:prstGeom>
          <a:solidFill>
            <a:srgbClr val="4A3A5C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2679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Factories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2679192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tenants · entitlements are the ceiling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81328" y="3392424"/>
            <a:ext cx="10058400" cy="621792"/>
          </a:xfrm>
          <a:prstGeom prst="roundRect">
            <a:avLst>
              <a:gd name="adj" fmla="val 11765"/>
            </a:avLst>
          </a:prstGeom>
          <a:solidFill>
            <a:srgbClr val="4A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33924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3392424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 work centers · origin / standard / terminal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938528" y="4105656"/>
            <a:ext cx="9601200" cy="621792"/>
          </a:xfrm>
          <a:prstGeom prst="roundRect">
            <a:avLst>
              <a:gd name="adj" fmla="val 11765"/>
            </a:avLst>
          </a:prstGeom>
          <a:solidFill>
            <a:srgbClr val="4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2240280" y="41056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Lines &amp; resources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0" y="410565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targets over dates · workforce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95728" y="4818888"/>
            <a:ext cx="9144000" cy="621792"/>
          </a:xfrm>
          <a:prstGeom prst="roundRect">
            <a:avLst>
              <a:gd name="adj" fmla="val 11765"/>
            </a:avLst>
          </a:prstGeom>
          <a:solidFill>
            <a:srgbClr val="4A3A5C"/>
          </a:solidFill>
          <a:ln/>
        </p:spPr>
      </p:sp>
      <p:sp>
        <p:nvSpPr>
          <p:cNvPr id="19" name="Text 16"/>
          <p:cNvSpPr/>
          <p:nvPr/>
        </p:nvSpPr>
        <p:spPr>
          <a:xfrm>
            <a:off x="2697480" y="48188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0" y="481888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roles, flags, operation grants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52928" y="5532120"/>
            <a:ext cx="8686800" cy="621792"/>
          </a:xfrm>
          <a:prstGeom prst="roundRect">
            <a:avLst>
              <a:gd name="adj" fmla="val 11765"/>
            </a:avLst>
          </a:prstGeom>
          <a:solidFill>
            <a:srgbClr val="4A3A5C"/>
          </a:solidFill>
          <a:ln/>
        </p:spPr>
      </p:sp>
      <p:sp>
        <p:nvSpPr>
          <p:cNvPr id="22" name="Text 19"/>
          <p:cNvSpPr/>
          <p:nvPr/>
        </p:nvSpPr>
        <p:spPr>
          <a:xfrm>
            <a:off x="3154680" y="5532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Data &amp; reports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0" y="553212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· handovers · aggregated queries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Security where it counts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Authentication, row-level security, hashed PINs, and clean isolation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54864" cy="155448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Authentication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25786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signs in with email + password. Floor uses a PIN verified server-side with a signed session.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9048" y="2011680"/>
            <a:ext cx="54864" cy="155448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0" name="Text 7"/>
          <p:cNvSpPr/>
          <p:nvPr/>
        </p:nvSpPr>
        <p:spPr>
          <a:xfrm>
            <a:off x="6373368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Row-level security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73368" y="25786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tenant table is filtered by factory. No cross-factory read from the client.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931920"/>
            <a:ext cx="54864" cy="155448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Hashed PINs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41248" y="44988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PINs are stored hashed and never returned after creation.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99048" y="3931920"/>
            <a:ext cx="54864" cy="155448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6" name="Text 13"/>
          <p:cNvSpPr/>
          <p:nvPr/>
        </p:nvSpPr>
        <p:spPr>
          <a:xfrm>
            <a:off x="6373368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Isolation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73368" y="44988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Superadmin provisioning uses a service role that lives outside the customer apps entirely.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08D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route guards are convenience only — real enforcement is at the database, never bypassed from client code.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Technology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production-first stack — nothing exotic, everything scalable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10972800" cy="566928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Web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31920" y="1920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6 · React 19 · TypeScript · Tailwind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4871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Floor 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31920" y="24871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PWA · installable · offline-tolerant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054096"/>
            <a:ext cx="10972800" cy="566928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0540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State &amp; data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31920" y="305409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 · Zustand · IndexedDB cache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6210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31920" y="362102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 · business logic in RPCs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4187952"/>
            <a:ext cx="10972800" cy="566928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1879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 actions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931920" y="41879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Functions with verified admin identity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7548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931920" y="4754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Row-level security · service role server-only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66928" y="5321808"/>
            <a:ext cx="10972800" cy="566928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321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931920" y="53218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operational tables · no separate warehouse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KPI funnel from output to OTIF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definitions across every report — powered by capture + workforce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hourly · batch · cutting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82112" y="1920240"/>
            <a:ext cx="128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10128" y="1920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6E5A82"/>
          </a:solidFill>
          <a:ln/>
        </p:spPr>
      </p:sp>
      <p:sp>
        <p:nvSpPr>
          <p:cNvPr id="11" name="Text 8"/>
          <p:cNvSpPr/>
          <p:nvPr/>
        </p:nvSpPr>
        <p:spPr>
          <a:xfrm>
            <a:off x="331012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1012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vs workforce &amp; SAM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25312" y="1920240"/>
            <a:ext cx="128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53328" y="1920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B08D6A"/>
          </a:solidFill>
          <a:ln/>
        </p:spPr>
      </p:sp>
      <p:sp>
        <p:nvSpPr>
          <p:cNvPr id="15" name="Text 12"/>
          <p:cNvSpPr/>
          <p:nvPr/>
        </p:nvSpPr>
        <p:spPr>
          <a:xfrm>
            <a:off x="605332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Cut-to-ship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5332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post-cut yield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68512" y="1920240"/>
            <a:ext cx="128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796528" y="1920240"/>
            <a:ext cx="2615184" cy="1005840"/>
          </a:xfrm>
          <a:prstGeom prst="roundRect">
            <a:avLst>
              <a:gd name="adj" fmla="val 8182"/>
            </a:avLst>
          </a:prstGeom>
          <a:solidFill>
            <a:srgbClr val="5B8A6F"/>
          </a:solidFill>
          <a:ln/>
        </p:spPr>
      </p:sp>
      <p:sp>
        <p:nvSpPr>
          <p:cNvPr id="19" name="Text 16"/>
          <p:cNvSpPr/>
          <p:nvPr/>
        </p:nvSpPr>
        <p:spPr>
          <a:xfrm>
            <a:off x="8796528" y="208483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OTIF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9652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on-time, in-full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3291840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Efficiency %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68096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× SAM ÷ (headcount × mins)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70832" y="3291840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DHU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720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defects per hundred units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174736" y="3291840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8" name="Text 25"/>
          <p:cNvSpPr/>
          <p:nvPr/>
        </p:nvSpPr>
        <p:spPr>
          <a:xfrm>
            <a:off x="8375904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First-pass yield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8375904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÷ inspected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66928" y="4590288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1" name="Text 28"/>
          <p:cNvSpPr/>
          <p:nvPr/>
        </p:nvSpPr>
        <p:spPr>
          <a:xfrm>
            <a:off x="768096" y="4636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Dispute rate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768096" y="5047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disputed ÷ total handovers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370832" y="4590288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0" y="4636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Order-to-cut %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4572000" y="5047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 ÷ adjusted order qty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174736" y="4590288"/>
            <a:ext cx="45720" cy="105156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7" name="Text 34"/>
          <p:cNvSpPr/>
          <p:nvPr/>
        </p:nvSpPr>
        <p:spPr>
          <a:xfrm>
            <a:off x="8375904" y="4636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3A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WIP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8375904" y="5047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produced − shipped − rejected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bc_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spc="-30" kern="0" dirty="0">
                <a:solidFill>
                  <a:srgbClr val="4A3A5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What each role gains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captured data creates value across the factory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10972800" cy="457200"/>
          </a:xfrm>
          <a:prstGeom prst="roundRect">
            <a:avLst>
              <a:gd name="adj" fmla="val 10000"/>
            </a:avLst>
          </a:prstGeom>
          <a:solidFill>
            <a:srgbClr val="4A3A5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Measurable gain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331720"/>
            <a:ext cx="10972800" cy="576072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331720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0" y="2331720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morning review in 10 minutes; OTIF without a spreadsheet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2907792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Production manager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31920" y="2907792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bottlenecks; staffing from real efficiency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3483864"/>
            <a:ext cx="10972800" cy="576072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483864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Supervisors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31920" y="3483864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accountability; disputes resolved, not argued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4059936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Operators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931920" y="4059936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planned styles; capped, simple capture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4636008"/>
            <a:ext cx="10972800" cy="576072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636008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Quality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931920" y="4636008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DHU at source; defect Pareto same day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212080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Planning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931920" y="5212080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plan-to-floor link; one-action routing templates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5788152"/>
            <a:ext cx="10972800" cy="576072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5788152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3A5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Buyers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3931920" y="5788152"/>
            <a:ext cx="7406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7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OTIF confidence; size-level traceability on request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Where Prodigi is going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production MES to the operating system for garment production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4864" cy="39319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Near-term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26609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/ HQ layer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10712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33741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RBAC roles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event 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837176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4800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 rate-limiting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70832" y="2011680"/>
            <a:ext cx="54864" cy="39319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26864" y="2697480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65776" y="26609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efficiency insights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26864" y="3410712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65776" y="33741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delay alerts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26864" y="4123944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626864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65776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Root-cause analysis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74736" y="2011680"/>
            <a:ext cx="54864" cy="39319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Ecosystem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430768" y="2697480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843076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69680" y="26609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portal (read-only WIP)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30768" y="3410712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843076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0" y="33741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portal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30768" y="4123944"/>
            <a:ext cx="329184" cy="329184"/>
          </a:xfrm>
          <a:prstGeom prst="ellipse">
            <a:avLst/>
          </a:prstGeom>
          <a:solidFill>
            <a:srgbClr val="6E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430768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B5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▹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869680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&amp; IoT capture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66928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Inventory, costing and finance stay out of scope — Prodigi feeds them, never duplicates them.</a:t>
            </a:r>
            <a:endParaRPr lang="en-US" sz="1200" dirty="0"/>
          </a:p>
        </p:txBody>
      </p:sp>
      <p:pic>
        <p:nvPicPr>
          <p:cNvPr id="42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92608"/>
            <a:ext cx="457200" cy="44805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57200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6E5A82"/>
          </a:solidFill>
          <a:ln/>
        </p:spPr>
      </p:sp>
      <p:pic>
        <p:nvPicPr>
          <p:cNvPr id="3" name="Image 0" descr="/home/claude/assets/rbc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822960" cy="8046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" y="1965960"/>
            <a:ext cx="2011680" cy="4572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5" name="Text 2"/>
          <p:cNvSpPr/>
          <p:nvPr/>
        </p:nvSpPr>
        <p:spPr>
          <a:xfrm>
            <a:off x="585216" y="2148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B08D6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CONFIGURE · PLAN · CAPTURE · HANDOVER · REPORT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0352" y="2697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-5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Own your production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66928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it, capture it, and measure it — in one system built for how garments are actually made.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5216" y="475488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Pilot factory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816" y="5138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plant, real orders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475488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2" name="Text 9"/>
          <p:cNvSpPr/>
          <p:nvPr/>
        </p:nvSpPr>
        <p:spPr>
          <a:xfrm>
            <a:off x="4562856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4-week implementation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62856" y="5138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→ capture → report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83296" y="4754880"/>
            <a:ext cx="45720" cy="1005840"/>
          </a:xfrm>
          <a:prstGeom prst="rect">
            <a:avLst/>
          </a:prstGeom>
          <a:solidFill>
            <a:srgbClr val="B08D6A"/>
          </a:solidFill>
          <a:ln/>
        </p:spPr>
      </p:sp>
      <p:sp>
        <p:nvSpPr>
          <p:cNvPr id="15" name="Text 12"/>
          <p:cNvSpPr/>
          <p:nvPr/>
        </p:nvSpPr>
        <p:spPr>
          <a:xfrm>
            <a:off x="8311896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Go-live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11896" y="5138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floor runs on Prodigi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5216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8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rbc@rajeshbheda.com    ·    www.rajeshbheda.com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Rajesh Bheda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RBC</dc:creator>
  <cp:lastModifiedBy>RBC</cp:lastModifiedBy>
  <cp:revision>1</cp:revision>
  <dcterms:created xsi:type="dcterms:W3CDTF">2026-08-04T14:27:14Z</dcterms:created>
  <dcterms:modified xsi:type="dcterms:W3CDTF">2026-08-04T14:27:14Z</dcterms:modified>
</cp:coreProperties>
</file>