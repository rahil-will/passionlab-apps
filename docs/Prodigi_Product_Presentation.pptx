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7D6F-8790-62E2-F234-EEDB37AC0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D3303-E6FA-30AF-27DA-54873C9FC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4159-17FE-1556-1FED-3A2105BC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DC01A-B5D9-A87E-49F7-CA2A7FAF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CD947-6E48-FB7F-84E8-2415FC5B4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0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288A-0AC2-77AA-78EE-61135F974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E6B5F-7291-A2B6-2581-4D89093FB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9D5C8-209A-AE81-DABA-715CE9F4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73D29-A781-8355-A9AB-64B46794E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7D7BD-63A4-C4A8-0CFC-78A443F2D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07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1EAE-9539-9C81-347B-8B2407AA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8EEF-76F2-598C-6B42-D3B6D82C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B9152-1353-FCEF-97D6-9BF11C54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38867-8AE8-01BD-EF76-E48590DC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54C0C-BA2E-3D2B-7800-303D7D20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98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EB29-4A78-AA9A-CFCF-F8DFE623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C9F5D-3596-7AC7-FBA5-6B10B230C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8ED1-D950-F6CE-BF2D-8C5F7A869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1E463-6D5E-552A-09D1-4B8CCEB08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4F345-8684-CA6F-9E82-DA1A196C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9776-C621-6D7F-E8E2-1683D056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78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0994-8BAE-9319-C3F8-A551CF4CB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272D7-8FF8-3B74-5F3B-F8FBFE7E6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3477E-4F0D-2601-D8FF-30A56A279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BB4EB-C197-B326-2071-FDC055BC3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E1C0A-720C-19FE-88D3-7AD05869E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37FDA4-6043-E154-3964-E5D73B5F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77C9F6-E05F-A98C-97F9-5AFA3065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0CB39-C4EA-1BBC-760C-5E2B6A81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84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6A8A-6064-D941-C01C-FB11F1CB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D3A68-90E3-D3FC-534A-C472B761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5164A5-FA0F-E919-FE8F-17499B913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EE0C9-8D56-04D1-5644-9A37D665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377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53AA33-C300-41AB-496F-32896534A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B837D-E86A-8774-D8EC-DDD7552B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28CF-E9BF-F936-5DCD-ACF8C397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40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439A-721F-951A-E186-6B5161797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AE5F4-9F2A-8D1A-E510-2C18C6056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12579-CF17-3B8D-264B-B4ADA5272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3D707-EAD7-7E1E-99C4-319E188C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C9850-2661-444F-AAB8-249D50378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1D682-3729-5FE9-FB1D-7D09D2229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68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B014-7015-3D29-26B1-E43CE7B55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111C30-3E75-28DF-CB5B-B0F995FCA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C877F-BC6E-DC67-4374-CFDAFA37A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28305-C5D6-406A-FC1A-9B497B3AB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0D619-1513-F291-34C9-8EC2DED9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1A92D-7C51-6F5C-0C9C-07012083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91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4F785-07C2-042E-FECC-40ED9DE2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39A1C-519C-B872-09A5-BEBE15BB6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3081-B5FF-5380-9C8D-831E252F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D364A-AB9C-22D4-EFCD-3EE8854D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B3AE4-23CF-3463-E5CE-E1754DEB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06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4DA3E-378A-CA52-0E83-232D1459E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FE34C-A1F1-E007-97BB-4EC5C5420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1066F-DD80-F048-56BC-B5A6312E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0D21B-FFE4-FB4E-5662-A63C23CB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98A23-8D17-9B28-D173-F429980E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48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B1634-181C-5922-46C1-F93FF37F5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B825D-88B5-E0A3-02F7-910A975BA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A7175-DD9A-425C-C54D-32854B1CF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A9259-4410-4E2B-81F4-C9A17235360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C0CEA-48B5-1D1B-87F8-F5A221E55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37030-B71C-30D3-7472-2C8CEB24A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F8804-7287-4E4F-A3DD-4DFBCABC23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26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60C69E-7E27-0AE2-8786-33B1A754A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7E1F01-C2F9-FF01-1A9A-4E9176A3E5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31B"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874A4D-F279-D619-D115-14D2307B92A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EF2EC-3B0E-6215-B472-23FAE2B70ACE}"/>
              </a:ext>
            </a:extLst>
          </p:cNvPr>
          <p:cNvSpPr txBox="1"/>
          <p:nvPr/>
        </p:nvSpPr>
        <p:spPr>
          <a:xfrm>
            <a:off x="812800" y="7112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80A8FF"/>
                </a:solidFill>
                <a:latin typeface="Segoe UI" panose="020B0502040204020203" pitchFamily="34" charset="0"/>
              </a:rPr>
              <a:t>RAJESH BHEDA CONSULTING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349F8-C843-9CB1-83C9-EFC036F7A5C5}"/>
              </a:ext>
            </a:extLst>
          </p:cNvPr>
          <p:cNvSpPr txBox="1"/>
          <p:nvPr/>
        </p:nvSpPr>
        <p:spPr>
          <a:xfrm>
            <a:off x="812800" y="1905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7200" b="1">
                <a:solidFill>
                  <a:srgbClr val="FFFFFF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DE96D1-BD47-DB4E-674C-E9D2D6C0F688}"/>
              </a:ext>
            </a:extLst>
          </p:cNvPr>
          <p:cNvSpPr/>
          <p:nvPr/>
        </p:nvSpPr>
        <p:spPr>
          <a:xfrm>
            <a:off x="812800" y="3327400"/>
            <a:ext cx="121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6B75E-A46F-9073-A1D4-A87A1E4909FE}"/>
              </a:ext>
            </a:extLst>
          </p:cNvPr>
          <p:cNvSpPr txBox="1"/>
          <p:nvPr/>
        </p:nvSpPr>
        <p:spPr>
          <a:xfrm>
            <a:off x="812800" y="37592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2600">
                <a:solidFill>
                  <a:srgbClr val="DDE1E8"/>
                </a:solidFill>
                <a:latin typeface="Segoe UI" panose="020B0502040204020203" pitchFamily="34" charset="0"/>
              </a:rPr>
              <a:t>Plan the making.
Capture the making.
Know the making.</a:t>
            </a:r>
            <a:endParaRPr lang="en-IN" sz="2600">
              <a:solidFill>
                <a:srgbClr val="DDE1E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7FECD2-A323-B3A8-8076-2034A9E77F95}"/>
              </a:ext>
            </a:extLst>
          </p:cNvPr>
          <p:cNvSpPr/>
          <p:nvPr/>
        </p:nvSpPr>
        <p:spPr>
          <a:xfrm>
            <a:off x="7112000" y="2184400"/>
            <a:ext cx="25400" cy="584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DB10B7-5F5D-8A5F-E179-51A7898D946B}"/>
              </a:ext>
            </a:extLst>
          </p:cNvPr>
          <p:cNvSpPr txBox="1"/>
          <p:nvPr/>
        </p:nvSpPr>
        <p:spPr>
          <a:xfrm>
            <a:off x="7340600" y="21336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Segoe UI" panose="020B0502040204020203" pitchFamily="34" charset="0"/>
              </a:rPr>
              <a:t>Plan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D82C0-22CF-0DAF-B3A7-83D4EB6DAFCE}"/>
              </a:ext>
            </a:extLst>
          </p:cNvPr>
          <p:cNvSpPr txBox="1"/>
          <p:nvPr/>
        </p:nvSpPr>
        <p:spPr>
          <a:xfrm>
            <a:off x="7340600" y="2463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9AA1AE"/>
                </a:solidFill>
                <a:latin typeface="Segoe UI" panose="020B0502040204020203" pitchFamily="34" charset="0"/>
              </a:rPr>
              <a:t>lines · dates · targets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00080F-C292-9069-5C27-967A15A17C7C}"/>
              </a:ext>
            </a:extLst>
          </p:cNvPr>
          <p:cNvSpPr/>
          <p:nvPr/>
        </p:nvSpPr>
        <p:spPr>
          <a:xfrm>
            <a:off x="7112000" y="3175000"/>
            <a:ext cx="25400" cy="584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7DE08-4891-1C67-2C0D-2F70D35F658B}"/>
              </a:ext>
            </a:extLst>
          </p:cNvPr>
          <p:cNvSpPr txBox="1"/>
          <p:nvPr/>
        </p:nvSpPr>
        <p:spPr>
          <a:xfrm>
            <a:off x="7340600" y="31242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Segoe UI" panose="020B0502040204020203" pitchFamily="34" charset="0"/>
              </a:rPr>
              <a:t>Capture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3467BA-A2F1-4867-1979-0E08DD7F5959}"/>
              </a:ext>
            </a:extLst>
          </p:cNvPr>
          <p:cNvSpPr txBox="1"/>
          <p:nvPr/>
        </p:nvSpPr>
        <p:spPr>
          <a:xfrm>
            <a:off x="7340600" y="34544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9AA1AE"/>
                </a:solidFill>
                <a:latin typeface="Segoe UI" panose="020B0502040204020203" pitchFamily="34" charset="0"/>
              </a:rPr>
              <a:t>hourly · QC · batch · cutting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10139D-7793-A8E4-6E8E-387E430E8A9A}"/>
              </a:ext>
            </a:extLst>
          </p:cNvPr>
          <p:cNvSpPr/>
          <p:nvPr/>
        </p:nvSpPr>
        <p:spPr>
          <a:xfrm>
            <a:off x="7112000" y="4165600"/>
            <a:ext cx="25400" cy="584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E5F679-F077-CC38-4B72-1F9489C63A0F}"/>
              </a:ext>
            </a:extLst>
          </p:cNvPr>
          <p:cNvSpPr txBox="1"/>
          <p:nvPr/>
        </p:nvSpPr>
        <p:spPr>
          <a:xfrm>
            <a:off x="7340600" y="4114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Segoe UI" panose="020B0502040204020203" pitchFamily="34" charset="0"/>
              </a:rPr>
              <a:t>Know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3CAB4-1523-8286-9253-5F81375CBA27}"/>
              </a:ext>
            </a:extLst>
          </p:cNvPr>
          <p:cNvSpPr txBox="1"/>
          <p:nvPr/>
        </p:nvSpPr>
        <p:spPr>
          <a:xfrm>
            <a:off x="7340600" y="44450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9AA1AE"/>
                </a:solidFill>
                <a:latin typeface="Segoe UI" panose="020B0502040204020203" pitchFamily="34" charset="0"/>
              </a:rPr>
              <a:t>same-day production truth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E0B342-8797-3638-1E38-BE402AEDFFC1}"/>
              </a:ext>
            </a:extLst>
          </p:cNvPr>
          <p:cNvSpPr txBox="1"/>
          <p:nvPr/>
        </p:nvSpPr>
        <p:spPr>
          <a:xfrm>
            <a:off x="812800" y="5969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>
                <a:solidFill>
                  <a:srgbClr val="6C7383"/>
                </a:solidFill>
                <a:latin typeface="Segoe UI" panose="020B0502040204020203" pitchFamily="34" charset="0"/>
              </a:rPr>
              <a:t>Product presentation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2DF8A9-1D1C-63DF-DE21-342B33EEA5B2}"/>
              </a:ext>
            </a:extLst>
          </p:cNvPr>
          <p:cNvSpPr txBox="1"/>
          <p:nvPr/>
        </p:nvSpPr>
        <p:spPr>
          <a:xfrm>
            <a:off x="8839200" y="5969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200">
                <a:solidFill>
                  <a:srgbClr val="6C7383"/>
                </a:solidFill>
                <a:latin typeface="Segoe UI" panose="020B0502040204020203" pitchFamily="34" charset="0"/>
              </a:rPr>
              <a:t>01 / 17</a:t>
            </a:r>
          </a:p>
        </p:txBody>
      </p:sp>
    </p:spTree>
    <p:extLst>
      <p:ext uri="{BB962C8B-B14F-4D97-AF65-F5344CB8AC3E}">
        <p14:creationId xmlns:p14="http://schemas.microsoft.com/office/powerpoint/2010/main" val="151447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165AD-7396-8744-4C1C-D3DB4920B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31B134-7D3D-916A-22C5-E2861B797E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31B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2B2FA4-ACD5-4B96-DCEC-A159E03C7B89}"/>
              </a:ext>
            </a:extLst>
          </p:cNvPr>
          <p:cNvSpPr/>
          <p:nvPr/>
        </p:nvSpPr>
        <p:spPr>
          <a:xfrm>
            <a:off x="0" y="0"/>
            <a:ext cx="8382000" cy="6858000"/>
          </a:xfrm>
          <a:prstGeom prst="rect">
            <a:avLst/>
          </a:prstGeom>
          <a:gradFill flip="none" rotWithShape="1">
            <a:gsLst>
              <a:gs pos="0">
                <a:srgbClr val="0F131B">
                  <a:alpha val="82000"/>
                </a:srgbClr>
              </a:gs>
              <a:gs pos="100000">
                <a:srgbClr val="0F131B">
                  <a:alpha val="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11D6F7-B213-8B14-9E69-0ED89EF6ECF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5D05A-2140-FE27-B923-97F447B1926F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80A8FF"/>
                </a:solidFill>
                <a:latin typeface="Segoe UI" panose="020B0502040204020203" pitchFamily="34" charset="0"/>
              </a:rPr>
              <a:t>THE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AC3F05-4BAF-3F23-D1CE-B58298D8338E}"/>
              </a:ext>
            </a:extLst>
          </p:cNvPr>
          <p:cNvSpPr txBox="1"/>
          <p:nvPr/>
        </p:nvSpPr>
        <p:spPr>
          <a:xfrm>
            <a:off x="812800" y="12192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4000" b="1">
                <a:solidFill>
                  <a:srgbClr val="FFFFFF"/>
                </a:solidFill>
                <a:latin typeface="Segoe UI" panose="020B0502040204020203" pitchFamily="34" charset="0"/>
              </a:rPr>
              <a:t>The factory knows
the plan.
It cannot see
the making.</a:t>
            </a:r>
            <a:endParaRPr lang="en-IN" sz="4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51F52B-1793-3885-ABA3-62123E59FF31}"/>
              </a:ext>
            </a:extLst>
          </p:cNvPr>
          <p:cNvSpPr/>
          <p:nvPr/>
        </p:nvSpPr>
        <p:spPr>
          <a:xfrm>
            <a:off x="812800" y="4013200"/>
            <a:ext cx="9144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1F850-48E7-F47C-1501-76CB320D8FD2}"/>
              </a:ext>
            </a:extLst>
          </p:cNvPr>
          <p:cNvSpPr txBox="1"/>
          <p:nvPr/>
        </p:nvSpPr>
        <p:spPr>
          <a:xfrm>
            <a:off x="812800" y="4419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>
                <a:solidFill>
                  <a:srgbClr val="DDE1E8"/>
                </a:solidFill>
                <a:latin typeface="Segoe UI" panose="020B0502040204020203" pitchFamily="34" charset="0"/>
              </a:rPr>
              <a:t>What was actually produced yesterday?</a:t>
            </a:r>
            <a:endParaRPr lang="en-IN" sz="1550">
              <a:solidFill>
                <a:srgbClr val="DDE1E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378ED7-D5F5-EF54-F9B6-CE810BA8E5D1}"/>
              </a:ext>
            </a:extLst>
          </p:cNvPr>
          <p:cNvSpPr txBox="1"/>
          <p:nvPr/>
        </p:nvSpPr>
        <p:spPr>
          <a:xfrm>
            <a:off x="812800" y="48514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>
                <a:solidFill>
                  <a:srgbClr val="DDE1E8"/>
                </a:solidFill>
                <a:latin typeface="Segoe UI" panose="020B0502040204020203" pitchFamily="34" charset="0"/>
              </a:rPr>
              <a:t>Where is the WIP right now?</a:t>
            </a:r>
            <a:endParaRPr lang="en-IN" sz="1550">
              <a:solidFill>
                <a:srgbClr val="DDE1E8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41E95-70D2-FF5B-2535-B3B982FB8510}"/>
              </a:ext>
            </a:extLst>
          </p:cNvPr>
          <p:cNvSpPr txBox="1"/>
          <p:nvPr/>
        </p:nvSpPr>
        <p:spPr>
          <a:xfrm>
            <a:off x="812800" y="52832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>
                <a:solidFill>
                  <a:srgbClr val="DDE1E8"/>
                </a:solidFill>
                <a:latin typeface="Segoe UI" panose="020B0502040204020203" pitchFamily="34" charset="0"/>
              </a:rPr>
              <a:t>What left — and what came back?</a:t>
            </a:r>
            <a:endParaRPr lang="en-IN" sz="1550">
              <a:solidFill>
                <a:srgbClr val="DDE1E8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7FFC1A-73A3-760A-B5E1-2CB963772D44}"/>
              </a:ext>
            </a:extLst>
          </p:cNvPr>
          <p:cNvSpPr txBox="1"/>
          <p:nvPr/>
        </p:nvSpPr>
        <p:spPr>
          <a:xfrm>
            <a:off x="812800" y="57150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>
                <a:solidFill>
                  <a:srgbClr val="DDE1E8"/>
                </a:solidFill>
                <a:latin typeface="Segoe UI" panose="020B0502040204020203" pitchFamily="34" charset="0"/>
              </a:rPr>
              <a:t>Will this order ship on time?</a:t>
            </a:r>
            <a:endParaRPr lang="en-IN" sz="1550">
              <a:solidFill>
                <a:srgbClr val="DDE1E8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B50ADA-2E3C-AF9E-6049-CF58933A30B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252B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E1E0EA-9A6C-DE48-891F-63A623918F6B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4A5160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1ED09-2709-8886-D60C-DF3F321109F8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4A5160"/>
                </a:solidFill>
                <a:latin typeface="Segoe UI" panose="020B0502040204020203" pitchFamily="34" charset="0"/>
              </a:rPr>
              <a:t>02 / 17</a:t>
            </a:r>
          </a:p>
        </p:txBody>
      </p:sp>
    </p:spTree>
    <p:extLst>
      <p:ext uri="{BB962C8B-B14F-4D97-AF65-F5344CB8AC3E}">
        <p14:creationId xmlns:p14="http://schemas.microsoft.com/office/powerpoint/2010/main" val="383341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A7D006-C575-C49E-94B2-C658F9EE5814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A44C67-820F-FD10-9673-7E121E5A233F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WHY THE GAP EXISTS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E7A41-8FD3-4744-8618-DD9A3C1FBB37}"/>
              </a:ext>
            </a:extLst>
          </p:cNvPr>
          <p:cNvSpPr txBox="1"/>
          <p:nvPr/>
        </p:nvSpPr>
        <p:spPr>
          <a:xfrm>
            <a:off x="812800" y="104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The systems exist.
Production is still disconnected.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495BE-C971-332C-254B-2DE1EE72E7E1}"/>
              </a:ext>
            </a:extLst>
          </p:cNvPr>
          <p:cNvSpPr txBox="1"/>
          <p:nvPr/>
        </p:nvSpPr>
        <p:spPr>
          <a:xfrm>
            <a:off x="812800" y="223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750">
                <a:solidFill>
                  <a:srgbClr val="6C7383"/>
                </a:solidFill>
                <a:latin typeface="Segoe UI" panose="020B0502040204020203" pitchFamily="34" charset="0"/>
              </a:rPr>
              <a:t>ERP owns the money. PLM owns development. The floor still owns spreadsheets.</a:t>
            </a:r>
            <a:endParaRPr lang="en-IN" sz="17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F3A636-0F6E-F397-E344-16688312FE13}"/>
              </a:ext>
            </a:extLst>
          </p:cNvPr>
          <p:cNvSpPr/>
          <p:nvPr/>
        </p:nvSpPr>
        <p:spPr>
          <a:xfrm>
            <a:off x="812800" y="2946400"/>
            <a:ext cx="3314700" cy="38100"/>
          </a:xfrm>
          <a:prstGeom prst="rect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34674-E702-0208-D47B-4B28E80F9F11}"/>
              </a:ext>
            </a:extLst>
          </p:cNvPr>
          <p:cNvSpPr txBox="1"/>
          <p:nvPr/>
        </p:nvSpPr>
        <p:spPr>
          <a:xfrm>
            <a:off x="812800" y="3175000"/>
            <a:ext cx="3314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100" b="1">
                <a:solidFill>
                  <a:srgbClr val="0F131B"/>
                </a:solidFill>
                <a:latin typeface="Segoe UI" panose="020B0502040204020203" pitchFamily="34" charset="0"/>
              </a:rPr>
              <a:t>ERP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4B1AB-CB6C-474E-C01F-C93B0DB5372D}"/>
              </a:ext>
            </a:extLst>
          </p:cNvPr>
          <p:cNvSpPr txBox="1"/>
          <p:nvPr/>
        </p:nvSpPr>
        <p:spPr>
          <a:xfrm>
            <a:off x="812800" y="36068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500">
                <a:solidFill>
                  <a:srgbClr val="6C7383"/>
                </a:solidFill>
                <a:latin typeface="Segoe UI" panose="020B0502040204020203" pitchFamily="34" charset="0"/>
              </a:rPr>
              <a:t>Orders · finance
Payroll · materials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07999C-0527-6728-5CE9-0A018E4BF27A}"/>
              </a:ext>
            </a:extLst>
          </p:cNvPr>
          <p:cNvSpPr/>
          <p:nvPr/>
        </p:nvSpPr>
        <p:spPr>
          <a:xfrm>
            <a:off x="4432300" y="2946400"/>
            <a:ext cx="3314700" cy="38100"/>
          </a:xfrm>
          <a:prstGeom prst="rect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8E7090-B715-E55D-7031-08B0BD9F333F}"/>
              </a:ext>
            </a:extLst>
          </p:cNvPr>
          <p:cNvSpPr txBox="1"/>
          <p:nvPr/>
        </p:nvSpPr>
        <p:spPr>
          <a:xfrm>
            <a:off x="4432300" y="3175000"/>
            <a:ext cx="3314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100" b="1">
                <a:solidFill>
                  <a:srgbClr val="0F131B"/>
                </a:solidFill>
                <a:latin typeface="Segoe UI" panose="020B0502040204020203" pitchFamily="34" charset="0"/>
              </a:rPr>
              <a:t>PLM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4028D1-0528-7565-DF2E-1BB68872BAFE}"/>
              </a:ext>
            </a:extLst>
          </p:cNvPr>
          <p:cNvSpPr txBox="1"/>
          <p:nvPr/>
        </p:nvSpPr>
        <p:spPr>
          <a:xfrm>
            <a:off x="4432300" y="36068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500">
                <a:solidFill>
                  <a:srgbClr val="6C7383"/>
                </a:solidFill>
                <a:latin typeface="Segoe UI" panose="020B0502040204020203" pitchFamily="34" charset="0"/>
              </a:rPr>
              <a:t>Tech packs · BOM
Development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607BB1-195A-75AF-F47F-08B22C1BA008}"/>
              </a:ext>
            </a:extLst>
          </p:cNvPr>
          <p:cNvSpPr/>
          <p:nvPr/>
        </p:nvSpPr>
        <p:spPr>
          <a:xfrm>
            <a:off x="8051800" y="2946400"/>
            <a:ext cx="3314700" cy="38100"/>
          </a:xfrm>
          <a:prstGeom prst="rect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A375B-4026-A2AC-2CB1-0D3E81DECA14}"/>
              </a:ext>
            </a:extLst>
          </p:cNvPr>
          <p:cNvSpPr txBox="1"/>
          <p:nvPr/>
        </p:nvSpPr>
        <p:spPr>
          <a:xfrm>
            <a:off x="8051800" y="3175000"/>
            <a:ext cx="33147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100" b="1">
                <a:solidFill>
                  <a:srgbClr val="0F131B"/>
                </a:solidFill>
                <a:latin typeface="Segoe UI" panose="020B0502040204020203" pitchFamily="34" charset="0"/>
              </a:rPr>
              <a:t>Excel &amp; paper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EBEF6-D90F-2DA9-5306-0773484D6434}"/>
              </a:ext>
            </a:extLst>
          </p:cNvPr>
          <p:cNvSpPr txBox="1"/>
          <p:nvPr/>
        </p:nvSpPr>
        <p:spPr>
          <a:xfrm>
            <a:off x="8051800" y="3606800"/>
            <a:ext cx="3314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500">
                <a:solidFill>
                  <a:srgbClr val="6C7383"/>
                </a:solidFill>
                <a:latin typeface="Segoe UI" panose="020B0502040204020203" pitchFamily="34" charset="0"/>
              </a:rPr>
              <a:t>The actual
production floor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35BCFD-4003-BC88-13F7-3E73636D611C}"/>
              </a:ext>
            </a:extLst>
          </p:cNvPr>
          <p:cNvSpPr/>
          <p:nvPr/>
        </p:nvSpPr>
        <p:spPr>
          <a:xfrm>
            <a:off x="812800" y="4648200"/>
            <a:ext cx="10566400" cy="1473200"/>
          </a:xfrm>
          <a:prstGeom prst="roundRect">
            <a:avLst>
              <a:gd name="adj" fmla="val 10345"/>
            </a:avLst>
          </a:prstGeom>
          <a:solidFill>
            <a:srgbClr val="0F13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F8BE9C-E14C-A19A-50AF-B9F071CA4363}"/>
              </a:ext>
            </a:extLst>
          </p:cNvPr>
          <p:cNvSpPr/>
          <p:nvPr/>
        </p:nvSpPr>
        <p:spPr>
          <a:xfrm>
            <a:off x="812800" y="4648200"/>
            <a:ext cx="50800" cy="1473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11B29-3465-C309-6891-B2C809FBBC74}"/>
              </a:ext>
            </a:extLst>
          </p:cNvPr>
          <p:cNvSpPr txBox="1"/>
          <p:nvPr/>
        </p:nvSpPr>
        <p:spPr>
          <a:xfrm>
            <a:off x="1168400" y="4902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80A8FF"/>
                </a:solidFill>
                <a:latin typeface="Segoe UI" panose="020B0502040204020203" pitchFamily="34" charset="0"/>
              </a:rPr>
              <a:t>THE GAP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2EA0C-55B1-2B2D-D02D-9CE1A9EE47CF}"/>
              </a:ext>
            </a:extLst>
          </p:cNvPr>
          <p:cNvSpPr txBox="1"/>
          <p:nvPr/>
        </p:nvSpPr>
        <p:spPr>
          <a:xfrm>
            <a:off x="1168400" y="5181600"/>
            <a:ext cx="546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Nobody owns production
as a system.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67EA25-2966-6656-E1D2-3505561A829F}"/>
              </a:ext>
            </a:extLst>
          </p:cNvPr>
          <p:cNvSpPr/>
          <p:nvPr/>
        </p:nvSpPr>
        <p:spPr>
          <a:xfrm>
            <a:off x="6985000" y="4978400"/>
            <a:ext cx="12700" cy="812800"/>
          </a:xfrm>
          <a:prstGeom prst="rect">
            <a:avLst/>
          </a:prstGeom>
          <a:solidFill>
            <a:srgbClr val="2A3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36F272-3368-08D0-937B-D15409EE9B4F}"/>
              </a:ext>
            </a:extLst>
          </p:cNvPr>
          <p:cNvSpPr txBox="1"/>
          <p:nvPr/>
        </p:nvSpPr>
        <p:spPr>
          <a:xfrm>
            <a:off x="7315200" y="4978400"/>
            <a:ext cx="375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350">
                <a:solidFill>
                  <a:srgbClr val="C2C8D2"/>
                </a:solidFill>
                <a:latin typeface="Segoe UI" panose="020B0502040204020203" pitchFamily="34" charset="0"/>
              </a:rPr>
              <a:t>Prodigi is that layer. It plans the making, captures the making, and feeds the ERP — it never replaces it.</a:t>
            </a:r>
            <a:endParaRPr lang="en-IN" sz="1350">
              <a:solidFill>
                <a:srgbClr val="C2C8D2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CDE23-F46C-099D-3A9F-CE1FA9AF2371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F28713-8ABA-E55D-AF9D-9BAD1D2F3C85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0B8D81-A4CB-E8E1-47DD-30E67701613E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03 / 17</a:t>
            </a:r>
          </a:p>
        </p:txBody>
      </p:sp>
    </p:spTree>
    <p:extLst>
      <p:ext uri="{BB962C8B-B14F-4D97-AF65-F5344CB8AC3E}">
        <p14:creationId xmlns:p14="http://schemas.microsoft.com/office/powerpoint/2010/main" val="151915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E268DC-BF7A-5991-97B9-37DC947AE00F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E2599-DB49-A23D-3D8E-44A378F762B6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THE CONSEQUENCE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FE716-B7C3-30EC-A397-594D977728F2}"/>
              </a:ext>
            </a:extLst>
          </p:cNvPr>
          <p:cNvSpPr txBox="1"/>
          <p:nvPr/>
        </p:nvSpPr>
        <p:spPr>
          <a:xfrm>
            <a:off x="812800" y="104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Planned, produced and shipped
are three different numbers.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D7F5B-0FB1-D96A-CBC2-E5EB7EEA17F2}"/>
              </a:ext>
            </a:extLst>
          </p:cNvPr>
          <p:cNvSpPr txBox="1"/>
          <p:nvPr/>
        </p:nvSpPr>
        <p:spPr>
          <a:xfrm>
            <a:off x="812800" y="223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750">
                <a:solidFill>
                  <a:srgbClr val="6C7383"/>
                </a:solidFill>
                <a:latin typeface="Segoe UI" panose="020B0502040204020203" pitchFamily="34" charset="0"/>
              </a:rPr>
              <a:t>Management reconciles them after the fact. The floor cannot steer with them in the moment.</a:t>
            </a:r>
            <a:endParaRPr lang="en-IN" sz="17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2E2539-83E6-CBA6-C284-C5079E73372B}"/>
              </a:ext>
            </a:extLst>
          </p:cNvPr>
          <p:cNvSpPr/>
          <p:nvPr/>
        </p:nvSpPr>
        <p:spPr>
          <a:xfrm>
            <a:off x="812800" y="3048000"/>
            <a:ext cx="3048000" cy="1879600"/>
          </a:xfrm>
          <a:prstGeom prst="roundRect">
            <a:avLst>
              <a:gd name="adj" fmla="val 8108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F0B663-1CDC-22A3-6CD7-61C43B8F78BE}"/>
              </a:ext>
            </a:extLst>
          </p:cNvPr>
          <p:cNvSpPr/>
          <p:nvPr/>
        </p:nvSpPr>
        <p:spPr>
          <a:xfrm>
            <a:off x="812800" y="3048000"/>
            <a:ext cx="3048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EBAF9-8556-94A7-92F9-66B94179E390}"/>
              </a:ext>
            </a:extLst>
          </p:cNvPr>
          <p:cNvSpPr txBox="1"/>
          <p:nvPr/>
        </p:nvSpPr>
        <p:spPr>
          <a:xfrm>
            <a:off x="1092200" y="3352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PLANNED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B34C0F-72B9-AC43-9D49-013C79AA9481}"/>
              </a:ext>
            </a:extLst>
          </p:cNvPr>
          <p:cNvSpPr txBox="1"/>
          <p:nvPr/>
        </p:nvSpPr>
        <p:spPr>
          <a:xfrm>
            <a:off x="1092200" y="3759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700" b="1">
                <a:solidFill>
                  <a:srgbClr val="0F131B"/>
                </a:solidFill>
                <a:latin typeface="Segoe UI" panose="020B0502040204020203" pitchFamily="34" charset="0"/>
              </a:rPr>
              <a:t>the order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E6FBF-8BCC-D558-3429-0F96BF780DAB}"/>
              </a:ext>
            </a:extLst>
          </p:cNvPr>
          <p:cNvSpPr txBox="1"/>
          <p:nvPr/>
        </p:nvSpPr>
        <p:spPr>
          <a:xfrm>
            <a:off x="1092200" y="4368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counted separately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B4496-B44D-C748-2C08-83A8AB86CCFB}"/>
              </a:ext>
            </a:extLst>
          </p:cNvPr>
          <p:cNvSpPr txBox="1"/>
          <p:nvPr/>
        </p:nvSpPr>
        <p:spPr>
          <a:xfrm>
            <a:off x="3860800" y="37084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C2C8D2"/>
                </a:solidFill>
                <a:latin typeface="Segoe UI" panose="020B0502040204020203" pitchFamily="34" charset="0"/>
              </a:rPr>
              <a:t>≠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1A9A5D-C8C2-F03A-F5AD-3DF77B6DBBAD}"/>
              </a:ext>
            </a:extLst>
          </p:cNvPr>
          <p:cNvSpPr/>
          <p:nvPr/>
        </p:nvSpPr>
        <p:spPr>
          <a:xfrm>
            <a:off x="4572000" y="3048000"/>
            <a:ext cx="3048000" cy="1879600"/>
          </a:xfrm>
          <a:prstGeom prst="roundRect">
            <a:avLst>
              <a:gd name="adj" fmla="val 8108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60AA2C-1952-C729-92E1-23932AC57E76}"/>
              </a:ext>
            </a:extLst>
          </p:cNvPr>
          <p:cNvSpPr/>
          <p:nvPr/>
        </p:nvSpPr>
        <p:spPr>
          <a:xfrm>
            <a:off x="4572000" y="3048000"/>
            <a:ext cx="3048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D534E3-1222-18AD-3299-F8A729FB7BEA}"/>
              </a:ext>
            </a:extLst>
          </p:cNvPr>
          <p:cNvSpPr txBox="1"/>
          <p:nvPr/>
        </p:nvSpPr>
        <p:spPr>
          <a:xfrm>
            <a:off x="4851400" y="3352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PRODUCED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A38E2-6168-168C-F1E1-45C95E16A0EB}"/>
              </a:ext>
            </a:extLst>
          </p:cNvPr>
          <p:cNvSpPr txBox="1"/>
          <p:nvPr/>
        </p:nvSpPr>
        <p:spPr>
          <a:xfrm>
            <a:off x="4851400" y="3759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700" b="1">
                <a:solidFill>
                  <a:srgbClr val="0F131B"/>
                </a:solidFill>
                <a:latin typeface="Segoe UI" panose="020B0502040204020203" pitchFamily="34" charset="0"/>
              </a:rPr>
              <a:t>the floor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3E774B-329F-7C89-9D47-25EE1BFEAC3F}"/>
              </a:ext>
            </a:extLst>
          </p:cNvPr>
          <p:cNvSpPr txBox="1"/>
          <p:nvPr/>
        </p:nvSpPr>
        <p:spPr>
          <a:xfrm>
            <a:off x="4851400" y="4368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counted separately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DB8DE8-7C66-CE50-A8E5-9DE5A2CA8F53}"/>
              </a:ext>
            </a:extLst>
          </p:cNvPr>
          <p:cNvSpPr txBox="1"/>
          <p:nvPr/>
        </p:nvSpPr>
        <p:spPr>
          <a:xfrm>
            <a:off x="7620000" y="3708400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IN" sz="3000" b="1">
                <a:solidFill>
                  <a:srgbClr val="C2C8D2"/>
                </a:solidFill>
                <a:latin typeface="Segoe UI" panose="020B0502040204020203" pitchFamily="34" charset="0"/>
              </a:rPr>
              <a:t>≠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11B829-3F88-BCED-CA50-B9B6A624D9F8}"/>
              </a:ext>
            </a:extLst>
          </p:cNvPr>
          <p:cNvSpPr/>
          <p:nvPr/>
        </p:nvSpPr>
        <p:spPr>
          <a:xfrm>
            <a:off x="8331200" y="3048000"/>
            <a:ext cx="3048000" cy="1879600"/>
          </a:xfrm>
          <a:prstGeom prst="roundRect">
            <a:avLst>
              <a:gd name="adj" fmla="val 8108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D7BD28-D7BF-BC03-1367-957D3E389E70}"/>
              </a:ext>
            </a:extLst>
          </p:cNvPr>
          <p:cNvSpPr/>
          <p:nvPr/>
        </p:nvSpPr>
        <p:spPr>
          <a:xfrm>
            <a:off x="8331200" y="3048000"/>
            <a:ext cx="3048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DCD724-FD65-8B5C-AD28-0C48C2AACBBF}"/>
              </a:ext>
            </a:extLst>
          </p:cNvPr>
          <p:cNvSpPr txBox="1"/>
          <p:nvPr/>
        </p:nvSpPr>
        <p:spPr>
          <a:xfrm>
            <a:off x="8610600" y="3352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SHIPPED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9EE6D7-1411-828E-22B5-986073D059C4}"/>
              </a:ext>
            </a:extLst>
          </p:cNvPr>
          <p:cNvSpPr txBox="1"/>
          <p:nvPr/>
        </p:nvSpPr>
        <p:spPr>
          <a:xfrm>
            <a:off x="8610600" y="3759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2700" b="1">
                <a:solidFill>
                  <a:srgbClr val="0F131B"/>
                </a:solidFill>
                <a:latin typeface="Segoe UI" panose="020B0502040204020203" pitchFamily="34" charset="0"/>
              </a:rPr>
              <a:t>the carton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E5C7E8-836B-184F-1ABF-12927B8905B9}"/>
              </a:ext>
            </a:extLst>
          </p:cNvPr>
          <p:cNvSpPr txBox="1"/>
          <p:nvPr/>
        </p:nvSpPr>
        <p:spPr>
          <a:xfrm>
            <a:off x="8610600" y="4368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counted separately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0D1CD6-80DE-50A3-19C5-1E1C207FA243}"/>
              </a:ext>
            </a:extLst>
          </p:cNvPr>
          <p:cNvSpPr/>
          <p:nvPr/>
        </p:nvSpPr>
        <p:spPr>
          <a:xfrm>
            <a:off x="812800" y="5384800"/>
            <a:ext cx="50800" cy="5588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B435C2-C3C3-FCC7-3972-A6009A0F41FB}"/>
              </a:ext>
            </a:extLst>
          </p:cNvPr>
          <p:cNvSpPr txBox="1"/>
          <p:nvPr/>
        </p:nvSpPr>
        <p:spPr>
          <a:xfrm>
            <a:off x="1092200" y="5384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>
                <a:solidFill>
                  <a:srgbClr val="333947"/>
                </a:solidFill>
                <a:latin typeface="Segoe UI" panose="020B0502040204020203" pitchFamily="34" charset="0"/>
              </a:rPr>
              <a:t>Until these three share one spine, on-time shipment is an argument — not a fact.</a:t>
            </a:r>
            <a:endParaRPr lang="en-IN" sz="1700">
              <a:solidFill>
                <a:srgbClr val="333947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CFCC5A-6EBE-DEFF-B2B7-146A06539AF6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CA0AE7-A524-4475-13A5-D0C42E6196C1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FBE162-8E7A-7C63-D318-F1BA5B17A35E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04 / 17</a:t>
            </a:r>
          </a:p>
        </p:txBody>
      </p:sp>
    </p:spTree>
    <p:extLst>
      <p:ext uri="{BB962C8B-B14F-4D97-AF65-F5344CB8AC3E}">
        <p14:creationId xmlns:p14="http://schemas.microsoft.com/office/powerpoint/2010/main" val="2782156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03942D-04BC-6BF2-39B5-64BF82731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0"/>
            <a:ext cx="10287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9EB303-C815-0FD5-2063-C81EE7FC0B12}"/>
              </a:ext>
            </a:extLst>
          </p:cNvPr>
          <p:cNvSpPr/>
          <p:nvPr/>
        </p:nvSpPr>
        <p:spPr>
          <a:xfrm>
            <a:off x="-5080000" y="-5080000"/>
            <a:ext cx="116840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86A86-3CF0-6BE8-E8A3-DF07D19C8F6A}"/>
              </a:ext>
            </a:extLst>
          </p:cNvPr>
          <p:cNvSpPr/>
          <p:nvPr/>
        </p:nvSpPr>
        <p:spPr>
          <a:xfrm>
            <a:off x="12192000" y="-5080000"/>
            <a:ext cx="50800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29A1A-02BB-8602-BF61-19C76790E179}"/>
              </a:ext>
            </a:extLst>
          </p:cNvPr>
          <p:cNvSpPr/>
          <p:nvPr/>
        </p:nvSpPr>
        <p:spPr>
          <a:xfrm>
            <a:off x="6604000" y="-5080000"/>
            <a:ext cx="5588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EFFC5-65D1-66A0-DC02-D6675923ECB4}"/>
              </a:ext>
            </a:extLst>
          </p:cNvPr>
          <p:cNvSpPr/>
          <p:nvPr/>
        </p:nvSpPr>
        <p:spPr>
          <a:xfrm>
            <a:off x="6604000" y="6858000"/>
            <a:ext cx="5588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8C0F8E-CF30-E3AC-7E3D-B8028EE0E6D5}"/>
              </a:ext>
            </a:extLst>
          </p:cNvPr>
          <p:cNvSpPr/>
          <p:nvPr/>
        </p:nvSpPr>
        <p:spPr>
          <a:xfrm>
            <a:off x="6604000" y="0"/>
            <a:ext cx="5588000" cy="6858000"/>
          </a:xfrm>
          <a:prstGeom prst="rect">
            <a:avLst/>
          </a:prstGeom>
          <a:solidFill>
            <a:srgbClr val="0F131B">
              <a:alpha val="7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3B39DD-326B-961E-FA64-53623718EFF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8B7EFC-0BA6-1D91-644C-AC23F3812D65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INTRODUCING PRODIGI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CAB2B-EAB0-2F76-72F2-1C6C2CFDCA39}"/>
              </a:ext>
            </a:extLst>
          </p:cNvPr>
          <p:cNvSpPr txBox="1"/>
          <p:nvPr/>
        </p:nvSpPr>
        <p:spPr>
          <a:xfrm>
            <a:off x="812800" y="1092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600" b="1">
                <a:solidFill>
                  <a:srgbClr val="0F131B"/>
                </a:solidFill>
                <a:latin typeface="Segoe UI" panose="020B0502040204020203" pitchFamily="34" charset="0"/>
              </a:rPr>
              <a:t>Prodigi is the
production layer
for the garment
factory.</a:t>
            </a:r>
            <a:endParaRPr lang="en-IN" sz="36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FB78A4-0F89-BE0E-DD7F-6EDC403C031C}"/>
              </a:ext>
            </a:extLst>
          </p:cNvPr>
          <p:cNvSpPr/>
          <p:nvPr/>
        </p:nvSpPr>
        <p:spPr>
          <a:xfrm>
            <a:off x="812800" y="3403600"/>
            <a:ext cx="9144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5CC16-8FF8-CA87-4522-3224E4700876}"/>
              </a:ext>
            </a:extLst>
          </p:cNvPr>
          <p:cNvSpPr txBox="1"/>
          <p:nvPr/>
        </p:nvSpPr>
        <p:spPr>
          <a:xfrm>
            <a:off x="812800" y="37846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0F131B"/>
                </a:solidFill>
                <a:latin typeface="Segoe UI" panose="020B0502040204020203" pitchFamily="34" charset="0"/>
              </a:rPr>
              <a:t>Plan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B52C5E-7C6B-B04E-9D1B-1A2D345600F3}"/>
              </a:ext>
            </a:extLst>
          </p:cNvPr>
          <p:cNvSpPr txBox="1"/>
          <p:nvPr/>
        </p:nvSpPr>
        <p:spPr>
          <a:xfrm>
            <a:off x="2032000" y="37846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50">
                <a:solidFill>
                  <a:srgbClr val="6C7383"/>
                </a:solidFill>
                <a:latin typeface="Segoe UI" panose="020B0502040204020203" pitchFamily="34" charset="0"/>
              </a:rPr>
              <a:t>Colorways onto lines and dates. One route. A real target.</a:t>
            </a:r>
            <a:endParaRPr lang="en-IN" sz="13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9C7BBE-871B-85C6-CCB9-FCF9048F29ED}"/>
              </a:ext>
            </a:extLst>
          </p:cNvPr>
          <p:cNvSpPr txBox="1"/>
          <p:nvPr/>
        </p:nvSpPr>
        <p:spPr>
          <a:xfrm>
            <a:off x="812800" y="45720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0F131B"/>
                </a:solidFill>
                <a:latin typeface="Segoe UI" panose="020B0502040204020203" pitchFamily="34" charset="0"/>
              </a:rPr>
              <a:t>Capture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4EED02-2BF7-E0DC-22FF-60F61E8308BC}"/>
              </a:ext>
            </a:extLst>
          </p:cNvPr>
          <p:cNvSpPr txBox="1"/>
          <p:nvPr/>
        </p:nvSpPr>
        <p:spPr>
          <a:xfrm>
            <a:off x="2032000" y="45720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50">
                <a:solidFill>
                  <a:srgbClr val="6C7383"/>
                </a:solidFill>
                <a:latin typeface="Segoe UI" panose="020B0502040204020203" pitchFamily="34" charset="0"/>
              </a:rPr>
              <a:t>Hourly, QC, batch or cutting — as the operation works.</a:t>
            </a:r>
            <a:endParaRPr lang="en-IN" sz="13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27E938-3281-4EE8-4B8B-7E00EC8A32B3}"/>
              </a:ext>
            </a:extLst>
          </p:cNvPr>
          <p:cNvSpPr txBox="1"/>
          <p:nvPr/>
        </p:nvSpPr>
        <p:spPr>
          <a:xfrm>
            <a:off x="812800" y="5359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600" b="1">
                <a:solidFill>
                  <a:srgbClr val="0F131B"/>
                </a:solidFill>
                <a:latin typeface="Segoe UI" panose="020B0502040204020203" pitchFamily="34" charset="0"/>
              </a:rPr>
              <a:t>Know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31D5DE-05E0-0ECB-FF3F-05F136775847}"/>
              </a:ext>
            </a:extLst>
          </p:cNvPr>
          <p:cNvSpPr txBox="1"/>
          <p:nvPr/>
        </p:nvSpPr>
        <p:spPr>
          <a:xfrm>
            <a:off x="2032000" y="5359400"/>
            <a:ext cx="419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50">
                <a:solidFill>
                  <a:srgbClr val="6C7383"/>
                </a:solidFill>
                <a:latin typeface="Segoe UI" panose="020B0502040204020203" pitchFamily="34" charset="0"/>
              </a:rPr>
              <a:t>Day, style and factory views from the same actuals.</a:t>
            </a:r>
            <a:endParaRPr lang="en-IN" sz="13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73F1B2-3BA0-0234-07C1-0DA3B6061205}"/>
              </a:ext>
            </a:extLst>
          </p:cNvPr>
          <p:cNvSpPr txBox="1"/>
          <p:nvPr/>
        </p:nvSpPr>
        <p:spPr>
          <a:xfrm>
            <a:off x="7061200" y="5054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200" b="1">
                <a:solidFill>
                  <a:srgbClr val="FFFFFF"/>
                </a:solidFill>
                <a:latin typeface="Segoe UI" panose="020B0502040204020203" pitchFamily="34" charset="0"/>
              </a:rPr>
              <a:t>It feeds the ERP.
It never replaces it.</a:t>
            </a:r>
            <a:endParaRPr lang="en-IN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C6B4A5-E5A2-8CFD-350D-11FE890418C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0AD080-A7E6-5D59-02C4-BE8D38BA18F5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7C4141-14B2-6FC6-EB6D-4B6AFEEEFA3D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05 / 17</a:t>
            </a:r>
          </a:p>
        </p:txBody>
      </p:sp>
    </p:spTree>
    <p:extLst>
      <p:ext uri="{BB962C8B-B14F-4D97-AF65-F5344CB8AC3E}">
        <p14:creationId xmlns:p14="http://schemas.microsoft.com/office/powerpoint/2010/main" val="423079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878ED0-C021-1E4E-8714-6DAD24255C5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ABEA1-2208-9180-B6DB-452A00633AFB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THE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2E44A-C3AB-3179-D4CB-605F9648F2D8}"/>
              </a:ext>
            </a:extLst>
          </p:cNvPr>
          <p:cNvSpPr txBox="1"/>
          <p:nvPr/>
        </p:nvSpPr>
        <p:spPr>
          <a:xfrm>
            <a:off x="812800" y="104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Plan goes to the floor.
The floor comes back as insight.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6C5682-DA44-E77C-E09F-6484A492FF5E}"/>
              </a:ext>
            </a:extLst>
          </p:cNvPr>
          <p:cNvSpPr/>
          <p:nvPr/>
        </p:nvSpPr>
        <p:spPr>
          <a:xfrm>
            <a:off x="812800" y="2946400"/>
            <a:ext cx="1905000" cy="1778000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ED7F7-DD56-CCF2-C489-955BC658804E}"/>
              </a:ext>
            </a:extLst>
          </p:cNvPr>
          <p:cNvSpPr/>
          <p:nvPr/>
        </p:nvSpPr>
        <p:spPr>
          <a:xfrm>
            <a:off x="812800" y="29464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143E0-1F02-9430-9E51-5A71199A8E67}"/>
              </a:ext>
            </a:extLst>
          </p:cNvPr>
          <p:cNvSpPr txBox="1"/>
          <p:nvPr/>
        </p:nvSpPr>
        <p:spPr>
          <a:xfrm>
            <a:off x="990600" y="322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C2C8D2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B3103-0CF8-5D92-72B2-E1F40D15E77C}"/>
              </a:ext>
            </a:extLst>
          </p:cNvPr>
          <p:cNvSpPr txBox="1"/>
          <p:nvPr/>
        </p:nvSpPr>
        <p:spPr>
          <a:xfrm>
            <a:off x="990600" y="3556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Configure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44309-E206-2623-908D-343162B603EC}"/>
              </a:ext>
            </a:extLst>
          </p:cNvPr>
          <p:cNvSpPr txBox="1"/>
          <p:nvPr/>
        </p:nvSpPr>
        <p:spPr>
          <a:xfrm>
            <a:off x="990600" y="3937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departments
flows · users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4AA9D13-D90D-2B61-D225-01758244221F}"/>
              </a:ext>
            </a:extLst>
          </p:cNvPr>
          <p:cNvSpPr/>
          <p:nvPr/>
        </p:nvSpPr>
        <p:spPr>
          <a:xfrm>
            <a:off x="2755900" y="3771900"/>
            <a:ext cx="177800" cy="127000"/>
          </a:xfrm>
          <a:prstGeom prst="rightArrow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EAD32D-8D08-A3F2-F451-5CA5EFC4B59A}"/>
              </a:ext>
            </a:extLst>
          </p:cNvPr>
          <p:cNvSpPr/>
          <p:nvPr/>
        </p:nvSpPr>
        <p:spPr>
          <a:xfrm>
            <a:off x="2971800" y="2946400"/>
            <a:ext cx="1905000" cy="1778000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1599A-1107-9C5B-55BF-256C5B50F87F}"/>
              </a:ext>
            </a:extLst>
          </p:cNvPr>
          <p:cNvSpPr/>
          <p:nvPr/>
        </p:nvSpPr>
        <p:spPr>
          <a:xfrm>
            <a:off x="2971800" y="29464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9C90ED-9359-645F-29D2-BF67C5F3F43C}"/>
              </a:ext>
            </a:extLst>
          </p:cNvPr>
          <p:cNvSpPr txBox="1"/>
          <p:nvPr/>
        </p:nvSpPr>
        <p:spPr>
          <a:xfrm>
            <a:off x="3149600" y="322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C2C8D2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1241E7-6CCB-E7FB-FE2A-AD6F557F21EB}"/>
              </a:ext>
            </a:extLst>
          </p:cNvPr>
          <p:cNvSpPr txBox="1"/>
          <p:nvPr/>
        </p:nvSpPr>
        <p:spPr>
          <a:xfrm>
            <a:off x="3149600" y="3556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Plan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EF670-BA34-C309-0F4C-4FC274B9D521}"/>
              </a:ext>
            </a:extLst>
          </p:cNvPr>
          <p:cNvSpPr txBox="1"/>
          <p:nvPr/>
        </p:nvSpPr>
        <p:spPr>
          <a:xfrm>
            <a:off x="3149600" y="3937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lines · dates
routing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4E00BC4-2C92-7043-FB95-85BCAA74A197}"/>
              </a:ext>
            </a:extLst>
          </p:cNvPr>
          <p:cNvSpPr/>
          <p:nvPr/>
        </p:nvSpPr>
        <p:spPr>
          <a:xfrm>
            <a:off x="4914900" y="3771900"/>
            <a:ext cx="177800" cy="127000"/>
          </a:xfrm>
          <a:prstGeom prst="rightArrow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E1F473E-7183-1B00-2228-A8596BBD01CD}"/>
              </a:ext>
            </a:extLst>
          </p:cNvPr>
          <p:cNvSpPr/>
          <p:nvPr/>
        </p:nvSpPr>
        <p:spPr>
          <a:xfrm>
            <a:off x="5130800" y="2946400"/>
            <a:ext cx="1905000" cy="1778000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BCFA81-91D5-7BE5-C913-AA54A2A06588}"/>
              </a:ext>
            </a:extLst>
          </p:cNvPr>
          <p:cNvSpPr/>
          <p:nvPr/>
        </p:nvSpPr>
        <p:spPr>
          <a:xfrm>
            <a:off x="5130800" y="29464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336FA-106F-23C2-20BD-90FD61EA59C4}"/>
              </a:ext>
            </a:extLst>
          </p:cNvPr>
          <p:cNvSpPr txBox="1"/>
          <p:nvPr/>
        </p:nvSpPr>
        <p:spPr>
          <a:xfrm>
            <a:off x="5308600" y="322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C2C8D2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D32D52-5AD7-79DF-37D0-D45AB982108D}"/>
              </a:ext>
            </a:extLst>
          </p:cNvPr>
          <p:cNvSpPr txBox="1"/>
          <p:nvPr/>
        </p:nvSpPr>
        <p:spPr>
          <a:xfrm>
            <a:off x="5308600" y="3556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Capture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8E8F39-BBDA-EC00-D62C-E4C2FAB7280C}"/>
              </a:ext>
            </a:extLst>
          </p:cNvPr>
          <p:cNvSpPr txBox="1"/>
          <p:nvPr/>
        </p:nvSpPr>
        <p:spPr>
          <a:xfrm>
            <a:off x="5308600" y="3937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output
+ people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C2201EE-4CB1-50FE-7EA5-56A9DD7C2A6B}"/>
              </a:ext>
            </a:extLst>
          </p:cNvPr>
          <p:cNvSpPr/>
          <p:nvPr/>
        </p:nvSpPr>
        <p:spPr>
          <a:xfrm>
            <a:off x="7073900" y="3771900"/>
            <a:ext cx="177800" cy="127000"/>
          </a:xfrm>
          <a:prstGeom prst="rightArrow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442C61B-2F23-FCA1-0B16-6CECA8FEEFE6}"/>
              </a:ext>
            </a:extLst>
          </p:cNvPr>
          <p:cNvSpPr/>
          <p:nvPr/>
        </p:nvSpPr>
        <p:spPr>
          <a:xfrm>
            <a:off x="7289800" y="2946400"/>
            <a:ext cx="1905000" cy="1778000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AFA489-010F-94F9-3057-2BCB6BAB6EA7}"/>
              </a:ext>
            </a:extLst>
          </p:cNvPr>
          <p:cNvSpPr/>
          <p:nvPr/>
        </p:nvSpPr>
        <p:spPr>
          <a:xfrm>
            <a:off x="7289800" y="29464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0A540C-2EB5-239D-32F2-E7DA3C57BF2E}"/>
              </a:ext>
            </a:extLst>
          </p:cNvPr>
          <p:cNvSpPr txBox="1"/>
          <p:nvPr/>
        </p:nvSpPr>
        <p:spPr>
          <a:xfrm>
            <a:off x="7467600" y="322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C2C8D2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BC7FD8-DDF2-2B6F-A8DF-822FEF7D8941}"/>
              </a:ext>
            </a:extLst>
          </p:cNvPr>
          <p:cNvSpPr txBox="1"/>
          <p:nvPr/>
        </p:nvSpPr>
        <p:spPr>
          <a:xfrm>
            <a:off x="7467600" y="3556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Handover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635AFE-7BD7-15F6-EBBA-3D13C70186AC}"/>
              </a:ext>
            </a:extLst>
          </p:cNvPr>
          <p:cNvSpPr txBox="1"/>
          <p:nvPr/>
        </p:nvSpPr>
        <p:spPr>
          <a:xfrm>
            <a:off x="7467600" y="3937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WIP
movement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5744279-10DB-0068-5436-1FB390666B39}"/>
              </a:ext>
            </a:extLst>
          </p:cNvPr>
          <p:cNvSpPr/>
          <p:nvPr/>
        </p:nvSpPr>
        <p:spPr>
          <a:xfrm>
            <a:off x="9232900" y="3771900"/>
            <a:ext cx="177800" cy="127000"/>
          </a:xfrm>
          <a:prstGeom prst="rightArrow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86A968-4776-0F9B-F36C-97D7277A2BF1}"/>
              </a:ext>
            </a:extLst>
          </p:cNvPr>
          <p:cNvSpPr/>
          <p:nvPr/>
        </p:nvSpPr>
        <p:spPr>
          <a:xfrm>
            <a:off x="9448800" y="2946400"/>
            <a:ext cx="1905000" cy="1778000"/>
          </a:xfrm>
          <a:prstGeom prst="roundRect">
            <a:avLst>
              <a:gd name="adj" fmla="val 7143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AFB0D1-6B5D-0338-4DB8-554BD93271B1}"/>
              </a:ext>
            </a:extLst>
          </p:cNvPr>
          <p:cNvSpPr/>
          <p:nvPr/>
        </p:nvSpPr>
        <p:spPr>
          <a:xfrm>
            <a:off x="9448800" y="29464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E5BCE8-4C4C-5C70-A5B4-166057436DDE}"/>
              </a:ext>
            </a:extLst>
          </p:cNvPr>
          <p:cNvSpPr txBox="1"/>
          <p:nvPr/>
        </p:nvSpPr>
        <p:spPr>
          <a:xfrm>
            <a:off x="9626600" y="32258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00" b="1">
                <a:solidFill>
                  <a:srgbClr val="C2C8D2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A6CB0C-BBBE-FD4F-03DB-13AE1300CDDD}"/>
              </a:ext>
            </a:extLst>
          </p:cNvPr>
          <p:cNvSpPr txBox="1"/>
          <p:nvPr/>
        </p:nvSpPr>
        <p:spPr>
          <a:xfrm>
            <a:off x="9626600" y="3556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Report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8E98DB-1F09-03CE-220D-445129603CB0}"/>
              </a:ext>
            </a:extLst>
          </p:cNvPr>
          <p:cNvSpPr txBox="1"/>
          <p:nvPr/>
        </p:nvSpPr>
        <p:spPr>
          <a:xfrm>
            <a:off x="9626600" y="39370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day · style
dashboard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B5D6F1-081F-81C1-2FF3-80EA58F05BEE}"/>
              </a:ext>
            </a:extLst>
          </p:cNvPr>
          <p:cNvSpPr/>
          <p:nvPr/>
        </p:nvSpPr>
        <p:spPr>
          <a:xfrm>
            <a:off x="812800" y="52324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CCD6DB-D845-3911-9E7A-9021E3D3C93F}"/>
              </a:ext>
            </a:extLst>
          </p:cNvPr>
          <p:cNvSpPr txBox="1"/>
          <p:nvPr/>
        </p:nvSpPr>
        <p:spPr>
          <a:xfrm>
            <a:off x="812800" y="54356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>
                <a:solidFill>
                  <a:srgbClr val="0F131B"/>
                </a:solidFill>
                <a:latin typeface="Segoe UI" panose="020B0502040204020203" pitchFamily="34" charset="0"/>
              </a:rPr>
              <a:t>Nothing important sits outside this loop.</a:t>
            </a:r>
            <a:endParaRPr lang="en-IN" sz="19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8EDBC8-04A2-86AD-0B6F-F5A362DB5F82}"/>
              </a:ext>
            </a:extLst>
          </p:cNvPr>
          <p:cNvSpPr txBox="1"/>
          <p:nvPr/>
        </p:nvSpPr>
        <p:spPr>
          <a:xfrm>
            <a:off x="8051800" y="5435600"/>
            <a:ext cx="3327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That is what makes Prodigi a system
rather than a set of tools.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41F3977-AFDF-75EB-3434-37867BD48C48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35DA67-28F4-9F1A-8ED7-8A6CF84D7640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749EF6-B490-C794-B353-DD801E2443EB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06 / 17</a:t>
            </a:r>
          </a:p>
        </p:txBody>
      </p:sp>
    </p:spTree>
    <p:extLst>
      <p:ext uri="{BB962C8B-B14F-4D97-AF65-F5344CB8AC3E}">
        <p14:creationId xmlns:p14="http://schemas.microsoft.com/office/powerpoint/2010/main" val="344190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F3B790-58B4-BDDA-E724-92D9B10D6673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02437A-7133-6BFE-305E-180D10E150E2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ONE ORDER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94F6A-BB5B-3AE8-EAB7-A2EB491FE5D2}"/>
              </a:ext>
            </a:extLst>
          </p:cNvPr>
          <p:cNvSpPr txBox="1"/>
          <p:nvPr/>
        </p:nvSpPr>
        <p:spPr>
          <a:xfrm>
            <a:off x="812800" y="104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Follow one order through the factory.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F16B0-BE36-056F-E17B-A343DC7A65E0}"/>
              </a:ext>
            </a:extLst>
          </p:cNvPr>
          <p:cNvSpPr txBox="1"/>
          <p:nvPr/>
        </p:nvSpPr>
        <p:spPr>
          <a:xfrm>
            <a:off x="812800" y="17526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750">
                <a:solidFill>
                  <a:srgbClr val="6C7383"/>
                </a:solidFill>
                <a:latin typeface="Segoe UI" panose="020B0502040204020203" pitchFamily="34" charset="0"/>
              </a:rPr>
              <a:t>One record. One route. One trail of actuals.</a:t>
            </a:r>
            <a:endParaRPr lang="en-IN" sz="17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43B53-97AE-DA61-05F0-CBBD36CA3541}"/>
              </a:ext>
            </a:extLst>
          </p:cNvPr>
          <p:cNvSpPr/>
          <p:nvPr/>
        </p:nvSpPr>
        <p:spPr>
          <a:xfrm>
            <a:off x="1397000" y="3327400"/>
            <a:ext cx="9398000" cy="254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7DB8B0-5B73-2AA3-15D0-78C4DA7637E5}"/>
              </a:ext>
            </a:extLst>
          </p:cNvPr>
          <p:cNvSpPr/>
          <p:nvPr/>
        </p:nvSpPr>
        <p:spPr>
          <a:xfrm>
            <a:off x="1308100" y="3251200"/>
            <a:ext cx="177800" cy="177800"/>
          </a:xfrm>
          <a:prstGeom prst="ellipse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2523F-A9FD-B478-AEB1-8B0D1CBE9ECC}"/>
              </a:ext>
            </a:extLst>
          </p:cNvPr>
          <p:cNvSpPr txBox="1"/>
          <p:nvPr/>
        </p:nvSpPr>
        <p:spPr>
          <a:xfrm>
            <a:off x="508000" y="2590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Order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56BF84-33C8-F3F7-98B6-0BC7C31E150A}"/>
              </a:ext>
            </a:extLst>
          </p:cNvPr>
          <p:cNvSpPr txBox="1"/>
          <p:nvPr/>
        </p:nvSpPr>
        <p:spPr>
          <a:xfrm>
            <a:off x="508000" y="2921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sizes live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01A544-1F9E-E4F0-BE68-A2A3159C1549}"/>
              </a:ext>
            </a:extLst>
          </p:cNvPr>
          <p:cNvSpPr/>
          <p:nvPr/>
        </p:nvSpPr>
        <p:spPr>
          <a:xfrm>
            <a:off x="3187700" y="3251200"/>
            <a:ext cx="177800" cy="177800"/>
          </a:xfrm>
          <a:prstGeom prst="ellipse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90AFF-852F-6849-DBA2-AF8174491C52}"/>
              </a:ext>
            </a:extLst>
          </p:cNvPr>
          <p:cNvSpPr txBox="1"/>
          <p:nvPr/>
        </p:nvSpPr>
        <p:spPr>
          <a:xfrm>
            <a:off x="2387600" y="2590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Cut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CEAA16-5C34-200C-78AA-BA60EF659853}"/>
              </a:ext>
            </a:extLst>
          </p:cNvPr>
          <p:cNvSpPr txBox="1"/>
          <p:nvPr/>
        </p:nvSpPr>
        <p:spPr>
          <a:xfrm>
            <a:off x="2387600" y="2921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lay &amp; qty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4221DC-3DEF-A6A3-842A-32EBB0D11535}"/>
              </a:ext>
            </a:extLst>
          </p:cNvPr>
          <p:cNvSpPr/>
          <p:nvPr/>
        </p:nvSpPr>
        <p:spPr>
          <a:xfrm>
            <a:off x="5067300" y="3251200"/>
            <a:ext cx="177800" cy="177800"/>
          </a:xfrm>
          <a:prstGeom prst="ellipse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9FF69-35E9-A806-0D7C-9B1D94AE9AC9}"/>
              </a:ext>
            </a:extLst>
          </p:cNvPr>
          <p:cNvSpPr txBox="1"/>
          <p:nvPr/>
        </p:nvSpPr>
        <p:spPr>
          <a:xfrm>
            <a:off x="4267200" y="2590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Print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80A5FF-EA3D-02DB-1BC1-9D9CFEDD9445}"/>
              </a:ext>
            </a:extLst>
          </p:cNvPr>
          <p:cNvSpPr txBox="1"/>
          <p:nvPr/>
        </p:nvSpPr>
        <p:spPr>
          <a:xfrm>
            <a:off x="4267200" y="2921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outsourced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0B96CC-F9E2-3FD4-E8FA-FF5CACE25E34}"/>
              </a:ext>
            </a:extLst>
          </p:cNvPr>
          <p:cNvSpPr/>
          <p:nvPr/>
        </p:nvSpPr>
        <p:spPr>
          <a:xfrm>
            <a:off x="6946900" y="3251200"/>
            <a:ext cx="177800" cy="177800"/>
          </a:xfrm>
          <a:prstGeom prst="ellipse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E0F35E-AB42-E01D-0FB1-F5D6A90D93E7}"/>
              </a:ext>
            </a:extLst>
          </p:cNvPr>
          <p:cNvSpPr txBox="1"/>
          <p:nvPr/>
        </p:nvSpPr>
        <p:spPr>
          <a:xfrm>
            <a:off x="6146800" y="2590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Sew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E08155-021F-D2E3-B202-E9B5AE356944}"/>
              </a:ext>
            </a:extLst>
          </p:cNvPr>
          <p:cNvSpPr txBox="1"/>
          <p:nvPr/>
        </p:nvSpPr>
        <p:spPr>
          <a:xfrm>
            <a:off x="6146800" y="2921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hourly / QC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D65231-D2FB-60C6-B694-7B7D8B391C76}"/>
              </a:ext>
            </a:extLst>
          </p:cNvPr>
          <p:cNvSpPr/>
          <p:nvPr/>
        </p:nvSpPr>
        <p:spPr>
          <a:xfrm>
            <a:off x="8826500" y="3251200"/>
            <a:ext cx="177800" cy="177800"/>
          </a:xfrm>
          <a:prstGeom prst="ellipse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FBF8C1-A9D1-D6F8-E41C-FDC2D2D5E585}"/>
              </a:ext>
            </a:extLst>
          </p:cNvPr>
          <p:cNvSpPr txBox="1"/>
          <p:nvPr/>
        </p:nvSpPr>
        <p:spPr>
          <a:xfrm>
            <a:off x="8026400" y="2590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Pack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B02FE-7D33-0BC8-C7F3-68AD531370CB}"/>
              </a:ext>
            </a:extLst>
          </p:cNvPr>
          <p:cNvSpPr txBox="1"/>
          <p:nvPr/>
        </p:nvSpPr>
        <p:spPr>
          <a:xfrm>
            <a:off x="8026400" y="2921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handed 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1C31E2A-9999-6E99-AAEF-244F805F4D1C}"/>
              </a:ext>
            </a:extLst>
          </p:cNvPr>
          <p:cNvSpPr/>
          <p:nvPr/>
        </p:nvSpPr>
        <p:spPr>
          <a:xfrm>
            <a:off x="10706100" y="3251200"/>
            <a:ext cx="177800" cy="177800"/>
          </a:xfrm>
          <a:prstGeom prst="ellipse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01D40F-E22A-18D9-330A-9CA9621CF33B}"/>
              </a:ext>
            </a:extLst>
          </p:cNvPr>
          <p:cNvSpPr txBox="1"/>
          <p:nvPr/>
        </p:nvSpPr>
        <p:spPr>
          <a:xfrm>
            <a:off x="9906000" y="2590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Ship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4043CA-D1BA-7DD1-9511-5EE63AC17E68}"/>
              </a:ext>
            </a:extLst>
          </p:cNvPr>
          <p:cNvSpPr txBox="1"/>
          <p:nvPr/>
        </p:nvSpPr>
        <p:spPr>
          <a:xfrm>
            <a:off x="9906000" y="2921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fulfilled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A96024-08BD-ABF0-DB00-8F9E0EF70A9B}"/>
              </a:ext>
            </a:extLst>
          </p:cNvPr>
          <p:cNvSpPr/>
          <p:nvPr/>
        </p:nvSpPr>
        <p:spPr>
          <a:xfrm>
            <a:off x="812800" y="4191000"/>
            <a:ext cx="304800" cy="254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73971F-D355-05D3-84D9-0367DA6F2CA6}"/>
              </a:ext>
            </a:extLst>
          </p:cNvPr>
          <p:cNvSpPr txBox="1"/>
          <p:nvPr/>
        </p:nvSpPr>
        <p:spPr>
          <a:xfrm>
            <a:off x="812800" y="43688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At cutting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56C267-D162-0BB5-91E3-48FEF6AC62C1}"/>
              </a:ext>
            </a:extLst>
          </p:cNvPr>
          <p:cNvSpPr txBox="1"/>
          <p:nvPr/>
        </p:nvSpPr>
        <p:spPr>
          <a:xfrm>
            <a:off x="812800" y="46482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500">
                <a:solidFill>
                  <a:srgbClr val="333947"/>
                </a:solidFill>
                <a:latin typeface="Segoe UI" panose="020B0502040204020203" pitchFamily="34" charset="0"/>
              </a:rPr>
              <a:t>What was actually cut?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94F40D-052F-F3C6-9584-A601C703393B}"/>
              </a:ext>
            </a:extLst>
          </p:cNvPr>
          <p:cNvSpPr/>
          <p:nvPr/>
        </p:nvSpPr>
        <p:spPr>
          <a:xfrm>
            <a:off x="3479800" y="4191000"/>
            <a:ext cx="304800" cy="254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9284BD-268E-2272-709B-09F89C208B02}"/>
              </a:ext>
            </a:extLst>
          </p:cNvPr>
          <p:cNvSpPr txBox="1"/>
          <p:nvPr/>
        </p:nvSpPr>
        <p:spPr>
          <a:xfrm>
            <a:off x="3479800" y="43688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At sewing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29CAF8-AD54-5E94-3395-E99A52127267}"/>
              </a:ext>
            </a:extLst>
          </p:cNvPr>
          <p:cNvSpPr txBox="1"/>
          <p:nvPr/>
        </p:nvSpPr>
        <p:spPr>
          <a:xfrm>
            <a:off x="3479800" y="46482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333947"/>
                </a:solidFill>
                <a:latin typeface="Segoe UI" panose="020B0502040204020203" pitchFamily="34" charset="0"/>
              </a:rPr>
              <a:t>What was produced — and how fast?</a:t>
            </a:r>
            <a:endParaRPr lang="en-IN" sz="1500">
              <a:solidFill>
                <a:srgbClr val="333947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C54AFF-A949-D28C-BC14-5629209A6DC6}"/>
              </a:ext>
            </a:extLst>
          </p:cNvPr>
          <p:cNvSpPr/>
          <p:nvPr/>
        </p:nvSpPr>
        <p:spPr>
          <a:xfrm>
            <a:off x="6146800" y="4191000"/>
            <a:ext cx="304800" cy="254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0EB6B6-74CA-B974-60B2-6E6EF14910A4}"/>
              </a:ext>
            </a:extLst>
          </p:cNvPr>
          <p:cNvSpPr txBox="1"/>
          <p:nvPr/>
        </p:nvSpPr>
        <p:spPr>
          <a:xfrm>
            <a:off x="6146800" y="43688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At handover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CD36E5-7B2C-7E06-98B3-12CB23699F9F}"/>
              </a:ext>
            </a:extLst>
          </p:cNvPr>
          <p:cNvSpPr txBox="1"/>
          <p:nvPr/>
        </p:nvSpPr>
        <p:spPr>
          <a:xfrm>
            <a:off x="6146800" y="46482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500">
                <a:solidFill>
                  <a:srgbClr val="333947"/>
                </a:solidFill>
                <a:latin typeface="Segoe UI" panose="020B0502040204020203" pitchFamily="34" charset="0"/>
              </a:rPr>
              <a:t>What left? What arrived?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02C898-17D5-3EF1-CAA8-FE7DB9C9E239}"/>
              </a:ext>
            </a:extLst>
          </p:cNvPr>
          <p:cNvSpPr/>
          <p:nvPr/>
        </p:nvSpPr>
        <p:spPr>
          <a:xfrm>
            <a:off x="8813800" y="4191000"/>
            <a:ext cx="304800" cy="254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E44D12-72B4-11C8-DA01-9842B07B7827}"/>
              </a:ext>
            </a:extLst>
          </p:cNvPr>
          <p:cNvSpPr txBox="1"/>
          <p:nvPr/>
        </p:nvSpPr>
        <p:spPr>
          <a:xfrm>
            <a:off x="8813800" y="43688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At shipment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42CE99-3E47-FCB8-7391-3B299300BBD6}"/>
              </a:ext>
            </a:extLst>
          </p:cNvPr>
          <p:cNvSpPr txBox="1"/>
          <p:nvPr/>
        </p:nvSpPr>
        <p:spPr>
          <a:xfrm>
            <a:off x="8813800" y="4648200"/>
            <a:ext cx="248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rgbClr val="333947"/>
                </a:solidFill>
                <a:latin typeface="Segoe UI" panose="020B0502040204020203" pitchFamily="34" charset="0"/>
              </a:rPr>
              <a:t>Will it go out on time?</a:t>
            </a:r>
            <a:endParaRPr lang="en-IN" sz="1500">
              <a:solidFill>
                <a:srgbClr val="333947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FB5B94-9456-5C2C-538D-78AD02C1FC48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835F51-8893-5747-DCF5-9178A0529076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080C05-10CB-116F-074E-F25A0DD1DEDA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07 / 17</a:t>
            </a:r>
          </a:p>
        </p:txBody>
      </p:sp>
    </p:spTree>
    <p:extLst>
      <p:ext uri="{BB962C8B-B14F-4D97-AF65-F5344CB8AC3E}">
        <p14:creationId xmlns:p14="http://schemas.microsoft.com/office/powerpoint/2010/main" val="238718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65BCFB-ABCA-1C12-1D29-18D12E2989E2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DCD739-BAF4-A8C6-2122-D13E003D0F57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15610-2A09-050B-2AD9-C62D80675D80}"/>
              </a:ext>
            </a:extLst>
          </p:cNvPr>
          <p:cNvSpPr txBox="1"/>
          <p:nvPr/>
        </p:nvSpPr>
        <p:spPr>
          <a:xfrm>
            <a:off x="812800" y="1041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The plan becomes
work on the line.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0C7C74-A23D-236D-AD7D-60559E9B1B12}"/>
              </a:ext>
            </a:extLst>
          </p:cNvPr>
          <p:cNvSpPr txBox="1"/>
          <p:nvPr/>
        </p:nvSpPr>
        <p:spPr>
          <a:xfrm>
            <a:off x="812800" y="2387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750">
                <a:solidFill>
                  <a:srgbClr val="6C7383"/>
                </a:solidFill>
                <a:latin typeface="Segoe UI" panose="020B0502040204020203" pitchFamily="34" charset="0"/>
              </a:rPr>
              <a:t>Who makes what, where, and when — with a target the floor can be measured against.</a:t>
            </a:r>
            <a:endParaRPr lang="en-IN" sz="17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3ED8B-94B1-0DF7-9112-38F72790ABB9}"/>
              </a:ext>
            </a:extLst>
          </p:cNvPr>
          <p:cNvSpPr txBox="1"/>
          <p:nvPr/>
        </p:nvSpPr>
        <p:spPr>
          <a:xfrm>
            <a:off x="812800" y="34798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F5E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BFB65-3F40-DE09-EFAC-07779A46DE13}"/>
              </a:ext>
            </a:extLst>
          </p:cNvPr>
          <p:cNvSpPr txBox="1"/>
          <p:nvPr/>
        </p:nvSpPr>
        <p:spPr>
          <a:xfrm>
            <a:off x="1143000" y="3479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 b="1">
                <a:solidFill>
                  <a:srgbClr val="0F131B"/>
                </a:solidFill>
                <a:latin typeface="Segoe UI" panose="020B0502040204020203" pitchFamily="34" charset="0"/>
              </a:rPr>
              <a:t>Route locked to the order</a:t>
            </a:r>
            <a:endParaRPr lang="en-IN" sz="155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5A83E-1409-0570-FFFB-7409D885C63B}"/>
              </a:ext>
            </a:extLst>
          </p:cNvPr>
          <p:cNvSpPr txBox="1"/>
          <p:nvPr/>
        </p:nvSpPr>
        <p:spPr>
          <a:xfrm>
            <a:off x="1143000" y="3784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Applied once, then frozen. History never rewrites itself.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C2CA0-6696-41E3-97EC-5AC2028041CB}"/>
              </a:ext>
            </a:extLst>
          </p:cNvPr>
          <p:cNvSpPr txBox="1"/>
          <p:nvPr/>
        </p:nvSpPr>
        <p:spPr>
          <a:xfrm>
            <a:off x="812800" y="43180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F5E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431CC-21CF-0D6D-C56C-69C641B2DB1E}"/>
              </a:ext>
            </a:extLst>
          </p:cNvPr>
          <p:cNvSpPr txBox="1"/>
          <p:nvPr/>
        </p:nvSpPr>
        <p:spPr>
          <a:xfrm>
            <a:off x="1143000" y="4318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 b="1">
                <a:solidFill>
                  <a:srgbClr val="0F131B"/>
                </a:solidFill>
                <a:latin typeface="Segoe UI" panose="020B0502040204020203" pitchFamily="34" charset="0"/>
              </a:rPr>
              <a:t>Colorways on lines and dates</a:t>
            </a:r>
            <a:endParaRPr lang="en-IN" sz="155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8575F-313E-2A9A-65F8-E1A1F72A7B19}"/>
              </a:ext>
            </a:extLst>
          </p:cNvPr>
          <p:cNvSpPr txBox="1"/>
          <p:nvPr/>
        </p:nvSpPr>
        <p:spPr>
          <a:xfrm>
            <a:off x="1143000" y="4622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Every colour allocated to a resource across a real calendar.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7225AA-D707-4DD0-8C96-6C2E5CC58D06}"/>
              </a:ext>
            </a:extLst>
          </p:cNvPr>
          <p:cNvSpPr txBox="1"/>
          <p:nvPr/>
        </p:nvSpPr>
        <p:spPr>
          <a:xfrm>
            <a:off x="812800" y="51562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1F5E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D82264-6D89-46AE-2FA5-B3BC5E621C5E}"/>
              </a:ext>
            </a:extLst>
          </p:cNvPr>
          <p:cNvSpPr txBox="1"/>
          <p:nvPr/>
        </p:nvSpPr>
        <p:spPr>
          <a:xfrm>
            <a:off x="1143000" y="5156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 b="1">
                <a:solidFill>
                  <a:srgbClr val="0F131B"/>
                </a:solidFill>
                <a:latin typeface="Segoe UI" panose="020B0502040204020203" pitchFamily="34" charset="0"/>
              </a:rPr>
              <a:t>Targets from SAM and people</a:t>
            </a:r>
            <a:endParaRPr lang="en-IN" sz="155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A96B0D-A43C-7473-A149-29B6CBD94767}"/>
              </a:ext>
            </a:extLst>
          </p:cNvPr>
          <p:cNvSpPr txBox="1"/>
          <p:nvPr/>
        </p:nvSpPr>
        <p:spPr>
          <a:xfrm>
            <a:off x="1143000" y="5461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Planned, then compared against what was actually made.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327AAC-5F20-CD40-11A6-27D220838675}"/>
              </a:ext>
            </a:extLst>
          </p:cNvPr>
          <p:cNvSpPr/>
          <p:nvPr/>
        </p:nvSpPr>
        <p:spPr>
          <a:xfrm>
            <a:off x="6604000" y="2184400"/>
            <a:ext cx="4775200" cy="3632200"/>
          </a:xfrm>
          <a:prstGeom prst="roundRect">
            <a:avLst>
              <a:gd name="adj" fmla="val 4196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D139F8-AFFA-7F3B-9654-1E775A214377}"/>
              </a:ext>
            </a:extLst>
          </p:cNvPr>
          <p:cNvSpPr txBox="1"/>
          <p:nvPr/>
        </p:nvSpPr>
        <p:spPr>
          <a:xfrm>
            <a:off x="6858000" y="2413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9AA1AE"/>
                </a:solidFill>
                <a:latin typeface="Segoe UI" panose="020B0502040204020203" pitchFamily="34" charset="0"/>
              </a:rPr>
              <a:t>LINE PLAN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4688C-4E22-13DE-22ED-058A41EC1F95}"/>
              </a:ext>
            </a:extLst>
          </p:cNvPr>
          <p:cNvSpPr txBox="1"/>
          <p:nvPr/>
        </p:nvSpPr>
        <p:spPr>
          <a:xfrm>
            <a:off x="8077200" y="2413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50">
                <a:solidFill>
                  <a:srgbClr val="C2C8D2"/>
                </a:solidFill>
                <a:latin typeface="Segoe UI" panose="020B0502040204020203" pitchFamily="34" charset="0"/>
              </a:rPr>
              <a:t>D1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B126F5-C0ED-09A1-B5EC-E1F522DADA45}"/>
              </a:ext>
            </a:extLst>
          </p:cNvPr>
          <p:cNvSpPr txBox="1"/>
          <p:nvPr/>
        </p:nvSpPr>
        <p:spPr>
          <a:xfrm>
            <a:off x="8585200" y="2413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50">
                <a:solidFill>
                  <a:srgbClr val="C2C8D2"/>
                </a:solidFill>
                <a:latin typeface="Segoe UI" panose="020B0502040204020203" pitchFamily="34" charset="0"/>
              </a:rPr>
              <a:t>D2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C22A40-ADBB-6862-5718-8B17C55E9D87}"/>
              </a:ext>
            </a:extLst>
          </p:cNvPr>
          <p:cNvSpPr txBox="1"/>
          <p:nvPr/>
        </p:nvSpPr>
        <p:spPr>
          <a:xfrm>
            <a:off x="9093200" y="2413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50">
                <a:solidFill>
                  <a:srgbClr val="C2C8D2"/>
                </a:solidFill>
                <a:latin typeface="Segoe UI" panose="020B0502040204020203" pitchFamily="34" charset="0"/>
              </a:rPr>
              <a:t>D3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74B52F-957E-BB00-0CA8-0009755B1067}"/>
              </a:ext>
            </a:extLst>
          </p:cNvPr>
          <p:cNvSpPr txBox="1"/>
          <p:nvPr/>
        </p:nvSpPr>
        <p:spPr>
          <a:xfrm>
            <a:off x="9601200" y="2413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50">
                <a:solidFill>
                  <a:srgbClr val="C2C8D2"/>
                </a:solidFill>
                <a:latin typeface="Segoe UI" panose="020B0502040204020203" pitchFamily="34" charset="0"/>
              </a:rPr>
              <a:t>D4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BB279E-E0B1-E87F-9892-226B24BBF9A6}"/>
              </a:ext>
            </a:extLst>
          </p:cNvPr>
          <p:cNvSpPr txBox="1"/>
          <p:nvPr/>
        </p:nvSpPr>
        <p:spPr>
          <a:xfrm>
            <a:off x="10109200" y="2413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50">
                <a:solidFill>
                  <a:srgbClr val="C2C8D2"/>
                </a:solidFill>
                <a:latin typeface="Segoe UI" panose="020B0502040204020203" pitchFamily="34" charset="0"/>
              </a:rPr>
              <a:t>D5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23C8FA-1186-425B-32F3-56FC81C1BCD6}"/>
              </a:ext>
            </a:extLst>
          </p:cNvPr>
          <p:cNvSpPr txBox="1"/>
          <p:nvPr/>
        </p:nvSpPr>
        <p:spPr>
          <a:xfrm>
            <a:off x="10617200" y="2413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N" sz="950">
                <a:solidFill>
                  <a:srgbClr val="C2C8D2"/>
                </a:solidFill>
                <a:latin typeface="Segoe UI" panose="020B0502040204020203" pitchFamily="34" charset="0"/>
              </a:rPr>
              <a:t>D6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55F033-2D06-170E-3385-1F4F033A64B8}"/>
              </a:ext>
            </a:extLst>
          </p:cNvPr>
          <p:cNvSpPr/>
          <p:nvPr/>
        </p:nvSpPr>
        <p:spPr>
          <a:xfrm>
            <a:off x="6858000" y="3175000"/>
            <a:ext cx="42672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2059CA-C52A-0AA5-4D9F-CA70B5DDE7C7}"/>
              </a:ext>
            </a:extLst>
          </p:cNvPr>
          <p:cNvSpPr txBox="1"/>
          <p:nvPr/>
        </p:nvSpPr>
        <p:spPr>
          <a:xfrm>
            <a:off x="6858000" y="28448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>
                <a:solidFill>
                  <a:srgbClr val="333947"/>
                </a:solidFill>
                <a:latin typeface="Segoe UI" panose="020B0502040204020203" pitchFamily="34" charset="0"/>
              </a:rPr>
              <a:t>Cutting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54C031-4B6F-BDB4-DA0B-F30C88AB9F83}"/>
              </a:ext>
            </a:extLst>
          </p:cNvPr>
          <p:cNvSpPr/>
          <p:nvPr/>
        </p:nvSpPr>
        <p:spPr>
          <a:xfrm>
            <a:off x="8077200" y="2870200"/>
            <a:ext cx="939800" cy="203200"/>
          </a:xfrm>
          <a:prstGeom prst="rect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6D2FC9-C564-BD9A-55E3-56FDEB357639}"/>
              </a:ext>
            </a:extLst>
          </p:cNvPr>
          <p:cNvSpPr/>
          <p:nvPr/>
        </p:nvSpPr>
        <p:spPr>
          <a:xfrm>
            <a:off x="6858000" y="3733800"/>
            <a:ext cx="42672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D3FB68-4A1A-8D20-6B1C-D6DAE48B8EC6}"/>
              </a:ext>
            </a:extLst>
          </p:cNvPr>
          <p:cNvSpPr txBox="1"/>
          <p:nvPr/>
        </p:nvSpPr>
        <p:spPr>
          <a:xfrm>
            <a:off x="6858000" y="34036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>
                <a:solidFill>
                  <a:srgbClr val="333947"/>
                </a:solidFill>
                <a:latin typeface="Segoe UI" panose="020B0502040204020203" pitchFamily="34" charset="0"/>
              </a:rPr>
              <a:t>Sewing L1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8E5BCF-E924-A99C-A0D8-EF54B7FBE442}"/>
              </a:ext>
            </a:extLst>
          </p:cNvPr>
          <p:cNvSpPr/>
          <p:nvPr/>
        </p:nvSpPr>
        <p:spPr>
          <a:xfrm>
            <a:off x="8585200" y="3429000"/>
            <a:ext cx="1447800" cy="203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A1A68E-1DFD-2B3F-2135-B7DEEF30293B}"/>
              </a:ext>
            </a:extLst>
          </p:cNvPr>
          <p:cNvSpPr/>
          <p:nvPr/>
        </p:nvSpPr>
        <p:spPr>
          <a:xfrm>
            <a:off x="6858000" y="4292600"/>
            <a:ext cx="42672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F69D35-41D4-652B-F2DE-38A5B2AD817B}"/>
              </a:ext>
            </a:extLst>
          </p:cNvPr>
          <p:cNvSpPr txBox="1"/>
          <p:nvPr/>
        </p:nvSpPr>
        <p:spPr>
          <a:xfrm>
            <a:off x="6858000" y="39624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>
                <a:solidFill>
                  <a:srgbClr val="333947"/>
                </a:solidFill>
                <a:latin typeface="Segoe UI" panose="020B0502040204020203" pitchFamily="34" charset="0"/>
              </a:rPr>
              <a:t>Sewing L2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D38BC7-CA52-3F43-B5B3-0E0122CBBB2B}"/>
              </a:ext>
            </a:extLst>
          </p:cNvPr>
          <p:cNvSpPr/>
          <p:nvPr/>
        </p:nvSpPr>
        <p:spPr>
          <a:xfrm>
            <a:off x="9093200" y="3987800"/>
            <a:ext cx="1447800" cy="203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9935B3-9F08-D574-74EA-1B717FDEF77E}"/>
              </a:ext>
            </a:extLst>
          </p:cNvPr>
          <p:cNvSpPr/>
          <p:nvPr/>
        </p:nvSpPr>
        <p:spPr>
          <a:xfrm>
            <a:off x="6858000" y="4851400"/>
            <a:ext cx="42672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3047F-52EE-9B18-D19C-92E245B2A5BB}"/>
              </a:ext>
            </a:extLst>
          </p:cNvPr>
          <p:cNvSpPr txBox="1"/>
          <p:nvPr/>
        </p:nvSpPr>
        <p:spPr>
          <a:xfrm>
            <a:off x="6858000" y="45212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>
                <a:solidFill>
                  <a:srgbClr val="333947"/>
                </a:solidFill>
                <a:latin typeface="Segoe UI" panose="020B0502040204020203" pitchFamily="34" charset="0"/>
              </a:rPr>
              <a:t>Finishing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008591-04EE-FF68-1D9B-CF203FAB3E00}"/>
              </a:ext>
            </a:extLst>
          </p:cNvPr>
          <p:cNvSpPr/>
          <p:nvPr/>
        </p:nvSpPr>
        <p:spPr>
          <a:xfrm>
            <a:off x="9601200" y="4546600"/>
            <a:ext cx="939800" cy="203200"/>
          </a:xfrm>
          <a:prstGeom prst="rect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8C3A7A-C665-3AB6-072B-ACF9F00A781F}"/>
              </a:ext>
            </a:extLst>
          </p:cNvPr>
          <p:cNvSpPr/>
          <p:nvPr/>
        </p:nvSpPr>
        <p:spPr>
          <a:xfrm>
            <a:off x="6858000" y="5410200"/>
            <a:ext cx="42672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5A05BF-7F87-0F3E-5173-A8DB792D597B}"/>
              </a:ext>
            </a:extLst>
          </p:cNvPr>
          <p:cNvSpPr txBox="1"/>
          <p:nvPr/>
        </p:nvSpPr>
        <p:spPr>
          <a:xfrm>
            <a:off x="6858000" y="5080000"/>
            <a:ext cx="1219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>
                <a:solidFill>
                  <a:srgbClr val="333947"/>
                </a:solidFill>
                <a:latin typeface="Segoe UI" panose="020B0502040204020203" pitchFamily="34" charset="0"/>
              </a:rPr>
              <a:t>Packing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634AA2-256C-BEB6-03BE-C1E5EFB06F1E}"/>
              </a:ext>
            </a:extLst>
          </p:cNvPr>
          <p:cNvSpPr/>
          <p:nvPr/>
        </p:nvSpPr>
        <p:spPr>
          <a:xfrm>
            <a:off x="10109200" y="5105400"/>
            <a:ext cx="939800" cy="203200"/>
          </a:xfrm>
          <a:prstGeom prst="rect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D629432-83DB-B09B-5167-D22640619474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136487-563F-CF19-305C-CCBDD3D61572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338882-E028-811C-328D-C43E73B1754C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08 / 17</a:t>
            </a:r>
          </a:p>
        </p:txBody>
      </p:sp>
    </p:spTree>
    <p:extLst>
      <p:ext uri="{BB962C8B-B14F-4D97-AF65-F5344CB8AC3E}">
        <p14:creationId xmlns:p14="http://schemas.microsoft.com/office/powerpoint/2010/main" val="224478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AE56D-354F-1D04-A69F-9FA977D7C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3300" y="0"/>
            <a:ext cx="10287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C46926-7B13-3272-CCEE-F8F780987077}"/>
              </a:ext>
            </a:extLst>
          </p:cNvPr>
          <p:cNvSpPr/>
          <p:nvPr/>
        </p:nvSpPr>
        <p:spPr>
          <a:xfrm>
            <a:off x="-5080000" y="-5080000"/>
            <a:ext cx="50800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FBF716-644B-15DF-11CB-327DF171D4B4}"/>
              </a:ext>
            </a:extLst>
          </p:cNvPr>
          <p:cNvSpPr/>
          <p:nvPr/>
        </p:nvSpPr>
        <p:spPr>
          <a:xfrm>
            <a:off x="5740400" y="-5080000"/>
            <a:ext cx="115316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1043B1-C4A5-6E99-1A85-35EDE42D9741}"/>
              </a:ext>
            </a:extLst>
          </p:cNvPr>
          <p:cNvSpPr/>
          <p:nvPr/>
        </p:nvSpPr>
        <p:spPr>
          <a:xfrm>
            <a:off x="0" y="-5080000"/>
            <a:ext cx="57404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9F383-D2D5-4F51-6A46-E1D85BC41452}"/>
              </a:ext>
            </a:extLst>
          </p:cNvPr>
          <p:cNvSpPr/>
          <p:nvPr/>
        </p:nvSpPr>
        <p:spPr>
          <a:xfrm>
            <a:off x="0" y="6858000"/>
            <a:ext cx="57404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C59964-64EB-3CA7-572C-8AFA899E875A}"/>
              </a:ext>
            </a:extLst>
          </p:cNvPr>
          <p:cNvSpPr/>
          <p:nvPr/>
        </p:nvSpPr>
        <p:spPr>
          <a:xfrm>
            <a:off x="0" y="0"/>
            <a:ext cx="5740400" cy="6858000"/>
          </a:xfrm>
          <a:prstGeom prst="rect">
            <a:avLst/>
          </a:prstGeom>
          <a:solidFill>
            <a:srgbClr val="0F131B">
              <a:alpha val="8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2C6AC-7B67-8370-8BB5-74663A1E1514}"/>
              </a:ext>
            </a:extLst>
          </p:cNvPr>
          <p:cNvSpPr txBox="1"/>
          <p:nvPr/>
        </p:nvSpPr>
        <p:spPr>
          <a:xfrm>
            <a:off x="63500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RUN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317F9-1229-D9BC-D464-1EA929EF2AF1}"/>
              </a:ext>
            </a:extLst>
          </p:cNvPr>
          <p:cNvSpPr txBox="1"/>
          <p:nvPr/>
        </p:nvSpPr>
        <p:spPr>
          <a:xfrm>
            <a:off x="6350000" y="1066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400" b="1">
                <a:solidFill>
                  <a:srgbClr val="0F131B"/>
                </a:solidFill>
                <a:latin typeface="Segoe UI" panose="020B0502040204020203" pitchFamily="34" charset="0"/>
              </a:rPr>
              <a:t>The floor sees only
the work assigned
to it.</a:t>
            </a:r>
            <a:endParaRPr lang="en-IN" sz="34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684AC-CFCA-90D1-6AF8-E1D83BC97D86}"/>
              </a:ext>
            </a:extLst>
          </p:cNvPr>
          <p:cNvSpPr txBox="1"/>
          <p:nvPr/>
        </p:nvSpPr>
        <p:spPr>
          <a:xfrm>
            <a:off x="6350000" y="2565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500">
                <a:solidFill>
                  <a:srgbClr val="6C7383"/>
                </a:solidFill>
                <a:latin typeface="Segoe UI" panose="020B0502040204020203" pitchFamily="34" charset="0"/>
              </a:rPr>
              <a:t>PIN login. Today's allocations. Not the entire factory.</a:t>
            </a:r>
            <a:endParaRPr lang="en-IN" sz="15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78E2B-1C58-C835-8F80-3C4FFF1AC04D}"/>
              </a:ext>
            </a:extLst>
          </p:cNvPr>
          <p:cNvSpPr/>
          <p:nvPr/>
        </p:nvSpPr>
        <p:spPr>
          <a:xfrm>
            <a:off x="6350000" y="3352800"/>
            <a:ext cx="25400" cy="584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88555-9114-C8F7-92F1-4D0A15B268A4}"/>
              </a:ext>
            </a:extLst>
          </p:cNvPr>
          <p:cNvSpPr txBox="1"/>
          <p:nvPr/>
        </p:nvSpPr>
        <p:spPr>
          <a:xfrm>
            <a:off x="6553200" y="3327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31B"/>
                </a:solidFill>
                <a:latin typeface="Segoe UI" panose="020B0502040204020203" pitchFamily="34" charset="0"/>
              </a:rPr>
              <a:t>Operator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ABD9B1-6BCB-1D3A-6FC6-66EB566431C5}"/>
              </a:ext>
            </a:extLst>
          </p:cNvPr>
          <p:cNvSpPr txBox="1"/>
          <p:nvPr/>
        </p:nvSpPr>
        <p:spPr>
          <a:xfrm>
            <a:off x="6553200" y="3606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Production tiles for the operations they are granted.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CAE39-E40A-DC68-ADA2-E48AF3EE863C}"/>
              </a:ext>
            </a:extLst>
          </p:cNvPr>
          <p:cNvSpPr/>
          <p:nvPr/>
        </p:nvSpPr>
        <p:spPr>
          <a:xfrm>
            <a:off x="6350000" y="4191000"/>
            <a:ext cx="25400" cy="584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F98311-9162-6AC4-8020-AAD280DAA7A5}"/>
              </a:ext>
            </a:extLst>
          </p:cNvPr>
          <p:cNvSpPr txBox="1"/>
          <p:nvPr/>
        </p:nvSpPr>
        <p:spPr>
          <a:xfrm>
            <a:off x="6553200" y="4165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31B"/>
                </a:solidFill>
                <a:latin typeface="Segoe UI" panose="020B0502040204020203" pitchFamily="34" charset="0"/>
              </a:rPr>
              <a:t>Supervisor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069D79-DF57-CAFB-EA57-38CCEECD8BB0}"/>
              </a:ext>
            </a:extLst>
          </p:cNvPr>
          <p:cNvSpPr txBox="1"/>
          <p:nvPr/>
        </p:nvSpPr>
        <p:spPr>
          <a:xfrm>
            <a:off x="6553200" y="4445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Handover and workforce — the line, not a catalogue.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1CAAB8-6497-F1C2-49EE-7FCBADB008E1}"/>
              </a:ext>
            </a:extLst>
          </p:cNvPr>
          <p:cNvSpPr/>
          <p:nvPr/>
        </p:nvSpPr>
        <p:spPr>
          <a:xfrm>
            <a:off x="6350000" y="5029200"/>
            <a:ext cx="25400" cy="5842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2DF1EF-E168-F356-94CA-FD03248047C5}"/>
              </a:ext>
            </a:extLst>
          </p:cNvPr>
          <p:cNvSpPr txBox="1"/>
          <p:nvPr/>
        </p:nvSpPr>
        <p:spPr>
          <a:xfrm>
            <a:off x="6553200" y="5003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31B"/>
                </a:solidFill>
                <a:latin typeface="Segoe UI" panose="020B0502040204020203" pitchFamily="34" charset="0"/>
              </a:rPr>
              <a:t>QA / terminal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04C64D-BE7A-F0A3-7F7F-5B4EE2E33013}"/>
              </a:ext>
            </a:extLst>
          </p:cNvPr>
          <p:cNvSpPr txBox="1"/>
          <p:nvPr/>
        </p:nvSpPr>
        <p:spPr>
          <a:xfrm>
            <a:off x="6553200" y="5283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Shipment and rejection. Closes the order.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07E7C2-774F-AE39-29A8-8CADE18165ED}"/>
              </a:ext>
            </a:extLst>
          </p:cNvPr>
          <p:cNvSpPr txBox="1"/>
          <p:nvPr/>
        </p:nvSpPr>
        <p:spPr>
          <a:xfrm>
            <a:off x="6350000" y="5943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9AA1AE"/>
                </a:solidFill>
                <a:latin typeface="Segoe UI" panose="020B0502040204020203" pitchFamily="34" charset="0"/>
              </a:rPr>
              <a:t>Composed from the person, the department, and the factory's entitlements.</a:t>
            </a:r>
            <a:endParaRPr lang="en-IN" sz="1250">
              <a:solidFill>
                <a:srgbClr val="9AA1AE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A5D236-3DAB-BA39-6662-A94CA5ACD746}"/>
              </a:ext>
            </a:extLst>
          </p:cNvPr>
          <p:cNvSpPr txBox="1"/>
          <p:nvPr/>
        </p:nvSpPr>
        <p:spPr>
          <a:xfrm>
            <a:off x="10160000" y="64516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09 / 17</a:t>
            </a:r>
          </a:p>
        </p:txBody>
      </p:sp>
    </p:spTree>
    <p:extLst>
      <p:ext uri="{BB962C8B-B14F-4D97-AF65-F5344CB8AC3E}">
        <p14:creationId xmlns:p14="http://schemas.microsoft.com/office/powerpoint/2010/main" val="405520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2C129-5365-DAC2-7287-694F012FD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97200"/>
            <a:ext cx="12192000" cy="812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B34FA66-0562-1DF2-9AA4-90BA978F826B}"/>
              </a:ext>
            </a:extLst>
          </p:cNvPr>
          <p:cNvSpPr/>
          <p:nvPr/>
        </p:nvSpPr>
        <p:spPr>
          <a:xfrm>
            <a:off x="-5080000" y="-5080000"/>
            <a:ext cx="50800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289513-5149-55DE-CD37-818184D25EDF}"/>
              </a:ext>
            </a:extLst>
          </p:cNvPr>
          <p:cNvSpPr/>
          <p:nvPr/>
        </p:nvSpPr>
        <p:spPr>
          <a:xfrm>
            <a:off x="12192000" y="-5080000"/>
            <a:ext cx="50800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3AB295-6DEC-D11A-0E74-893223C4330B}"/>
              </a:ext>
            </a:extLst>
          </p:cNvPr>
          <p:cNvSpPr/>
          <p:nvPr/>
        </p:nvSpPr>
        <p:spPr>
          <a:xfrm>
            <a:off x="0" y="-5080000"/>
            <a:ext cx="12192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5E61F-0818-D829-0732-6AE29D6CEF72}"/>
              </a:ext>
            </a:extLst>
          </p:cNvPr>
          <p:cNvSpPr/>
          <p:nvPr/>
        </p:nvSpPr>
        <p:spPr>
          <a:xfrm>
            <a:off x="0" y="2133600"/>
            <a:ext cx="12192000" cy="980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AA3202-C5DB-7756-0DD4-682882586191}"/>
              </a:ext>
            </a:extLst>
          </p:cNvPr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F131B">
              <a:alpha val="4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C00DD1-D5CC-73F4-A1FD-A3D2ADCFD273}"/>
              </a:ext>
            </a:extLst>
          </p:cNvPr>
          <p:cNvSpPr/>
          <p:nvPr/>
        </p:nvSpPr>
        <p:spPr>
          <a:xfrm>
            <a:off x="0" y="0"/>
            <a:ext cx="76200" cy="21336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6E815-C2E9-EC4F-EE0C-0D74CCD4F550}"/>
              </a:ext>
            </a:extLst>
          </p:cNvPr>
          <p:cNvSpPr txBox="1"/>
          <p:nvPr/>
        </p:nvSpPr>
        <p:spPr>
          <a:xfrm>
            <a:off x="812800" y="508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80A8FF"/>
                </a:solidFill>
                <a:latin typeface="Segoe UI" panose="020B0502040204020203" pitchFamily="34" charset="0"/>
              </a:rPr>
              <a:t>CAPTURE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D1A03B-F09B-8E8E-36E0-6AE51512059D}"/>
              </a:ext>
            </a:extLst>
          </p:cNvPr>
          <p:cNvSpPr txBox="1"/>
          <p:nvPr/>
        </p:nvSpPr>
        <p:spPr>
          <a:xfrm>
            <a:off x="812800" y="838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3000" b="1">
                <a:solidFill>
                  <a:srgbClr val="FFFFFF"/>
                </a:solidFill>
                <a:latin typeface="Segoe UI" panose="020B0502040204020203" pitchFamily="34" charset="0"/>
              </a:rPr>
              <a:t>Capture production the way
the operation actually works.</a:t>
            </a:r>
            <a:endParaRPr lang="en-IN" sz="30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098AB9-2636-5388-DD03-ED8F070D82A4}"/>
              </a:ext>
            </a:extLst>
          </p:cNvPr>
          <p:cNvSpPr/>
          <p:nvPr/>
        </p:nvSpPr>
        <p:spPr>
          <a:xfrm>
            <a:off x="812800" y="2540000"/>
            <a:ext cx="2489200" cy="1676400"/>
          </a:xfrm>
          <a:prstGeom prst="roundRect">
            <a:avLst>
              <a:gd name="adj" fmla="val 7576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F45BD-8EBA-E7F4-E7E2-2363B74AA8F8}"/>
              </a:ext>
            </a:extLst>
          </p:cNvPr>
          <p:cNvSpPr/>
          <p:nvPr/>
        </p:nvSpPr>
        <p:spPr>
          <a:xfrm>
            <a:off x="812800" y="2540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C958C9-F48D-76CF-5D8F-800AA02FF4F3}"/>
              </a:ext>
            </a:extLst>
          </p:cNvPr>
          <p:cNvSpPr txBox="1"/>
          <p:nvPr/>
        </p:nvSpPr>
        <p:spPr>
          <a:xfrm>
            <a:off x="1016000" y="2819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Hourly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A8FBB9-1247-38A6-B6C4-74BDBD032ADC}"/>
              </a:ext>
            </a:extLst>
          </p:cNvPr>
          <p:cNvSpPr txBox="1"/>
          <p:nvPr/>
        </p:nvSpPr>
        <p:spPr>
          <a:xfrm>
            <a:off x="1016000" y="3200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Sewing, finishing, packing.
Size-wise, hour by hour.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52A721-E4B1-6F7F-C2FA-36FCB38AD942}"/>
              </a:ext>
            </a:extLst>
          </p:cNvPr>
          <p:cNvSpPr/>
          <p:nvPr/>
        </p:nvSpPr>
        <p:spPr>
          <a:xfrm>
            <a:off x="3479800" y="2540000"/>
            <a:ext cx="2489200" cy="1676400"/>
          </a:xfrm>
          <a:prstGeom prst="roundRect">
            <a:avLst>
              <a:gd name="adj" fmla="val 7576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B7D91C-1743-D847-0A56-EB9058824CD0}"/>
              </a:ext>
            </a:extLst>
          </p:cNvPr>
          <p:cNvSpPr/>
          <p:nvPr/>
        </p:nvSpPr>
        <p:spPr>
          <a:xfrm>
            <a:off x="3479800" y="2540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C37F3F-BEEA-91C7-7AB8-CC4C257805E4}"/>
              </a:ext>
            </a:extLst>
          </p:cNvPr>
          <p:cNvSpPr txBox="1"/>
          <p:nvPr/>
        </p:nvSpPr>
        <p:spPr>
          <a:xfrm>
            <a:off x="3683000" y="2819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QC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82CDED-F572-E570-0CC1-3171FB0E9871}"/>
              </a:ext>
            </a:extLst>
          </p:cNvPr>
          <p:cNvSpPr txBox="1"/>
          <p:nvPr/>
        </p:nvSpPr>
        <p:spPr>
          <a:xfrm>
            <a:off x="3683000" y="3200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Piece-wise pass, fail, rework.
Defects caught at source.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D46122B-A1DF-0DF7-D8EE-4807A847ED7A}"/>
              </a:ext>
            </a:extLst>
          </p:cNvPr>
          <p:cNvSpPr/>
          <p:nvPr/>
        </p:nvSpPr>
        <p:spPr>
          <a:xfrm>
            <a:off x="6146800" y="2540000"/>
            <a:ext cx="2489200" cy="1676400"/>
          </a:xfrm>
          <a:prstGeom prst="roundRect">
            <a:avLst>
              <a:gd name="adj" fmla="val 7576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671976-FA0B-117D-485E-721CF68B8DAF}"/>
              </a:ext>
            </a:extLst>
          </p:cNvPr>
          <p:cNvSpPr/>
          <p:nvPr/>
        </p:nvSpPr>
        <p:spPr>
          <a:xfrm>
            <a:off x="6146800" y="2540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B81F95-271B-DB37-EB3A-76104A71AEFD}"/>
              </a:ext>
            </a:extLst>
          </p:cNvPr>
          <p:cNvSpPr txBox="1"/>
          <p:nvPr/>
        </p:nvSpPr>
        <p:spPr>
          <a:xfrm>
            <a:off x="6350000" y="2819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Batch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C69C2D-5083-0BAE-1617-E1AE9D36E5AF}"/>
              </a:ext>
            </a:extLst>
          </p:cNvPr>
          <p:cNvSpPr txBox="1"/>
          <p:nvPr/>
        </p:nvSpPr>
        <p:spPr>
          <a:xfrm>
            <a:off x="6350000" y="3200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Washing, curing, ovens.
One count per batch.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0F2FC2-3129-48B8-65BC-BCC56AD5F7B8}"/>
              </a:ext>
            </a:extLst>
          </p:cNvPr>
          <p:cNvSpPr/>
          <p:nvPr/>
        </p:nvSpPr>
        <p:spPr>
          <a:xfrm>
            <a:off x="8813800" y="2540000"/>
            <a:ext cx="2489200" cy="1676400"/>
          </a:xfrm>
          <a:prstGeom prst="roundRect">
            <a:avLst>
              <a:gd name="adj" fmla="val 7576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324F63-C8E6-B347-0C51-30C5684ACE38}"/>
              </a:ext>
            </a:extLst>
          </p:cNvPr>
          <p:cNvSpPr/>
          <p:nvPr/>
        </p:nvSpPr>
        <p:spPr>
          <a:xfrm>
            <a:off x="8813800" y="2540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EFAD74-D181-C6DC-43EA-7563C7D50555}"/>
              </a:ext>
            </a:extLst>
          </p:cNvPr>
          <p:cNvSpPr txBox="1"/>
          <p:nvPr/>
        </p:nvSpPr>
        <p:spPr>
          <a:xfrm>
            <a:off x="9017000" y="2819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b="1">
                <a:solidFill>
                  <a:srgbClr val="0F131B"/>
                </a:solidFill>
                <a:latin typeface="Segoe UI" panose="020B0502040204020203" pitchFamily="34" charset="0"/>
              </a:rPr>
              <a:t>Cutting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531BC2-59AC-2C2B-733B-2EE126108E34}"/>
              </a:ext>
            </a:extLst>
          </p:cNvPr>
          <p:cNvSpPr txBox="1"/>
          <p:nvPr/>
        </p:nvSpPr>
        <p:spPr>
          <a:xfrm>
            <a:off x="9017000" y="32004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Lay, plies, size quantities.
Where the count is born.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DF78B3-D1E7-765F-7FE6-E03A71DF63E1}"/>
              </a:ext>
            </a:extLst>
          </p:cNvPr>
          <p:cNvSpPr/>
          <p:nvPr/>
        </p:nvSpPr>
        <p:spPr>
          <a:xfrm>
            <a:off x="812800" y="4648200"/>
            <a:ext cx="25400" cy="762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8BA592-D70A-8356-D0C1-544FF25CB9B4}"/>
              </a:ext>
            </a:extLst>
          </p:cNvPr>
          <p:cNvSpPr txBox="1"/>
          <p:nvPr/>
        </p:nvSpPr>
        <p:spPr>
          <a:xfrm>
            <a:off x="1041400" y="4622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0F131B"/>
                </a:solidFill>
                <a:latin typeface="Segoe UI" panose="020B0502040204020203" pitchFamily="34" charset="0"/>
              </a:rPr>
              <a:t>One truth at a time</a:t>
            </a:r>
            <a:endParaRPr lang="en-IN" sz="15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65322C-CB09-B91F-9C1A-4007048CFECB}"/>
              </a:ext>
            </a:extLst>
          </p:cNvPr>
          <p:cNvSpPr txBox="1"/>
          <p:nvPr/>
        </p:nvSpPr>
        <p:spPr>
          <a:xfrm>
            <a:off x="1041400" y="4927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Output or QC — never both at once on the same department and order.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7CC267-2B74-DD7B-18C8-59803D188F00}"/>
              </a:ext>
            </a:extLst>
          </p:cNvPr>
          <p:cNvSpPr/>
          <p:nvPr/>
        </p:nvSpPr>
        <p:spPr>
          <a:xfrm>
            <a:off x="6197600" y="4648200"/>
            <a:ext cx="25400" cy="762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6E0EDA-72A9-DD51-C3FF-01468B3E6B19}"/>
              </a:ext>
            </a:extLst>
          </p:cNvPr>
          <p:cNvSpPr txBox="1"/>
          <p:nvPr/>
        </p:nvSpPr>
        <p:spPr>
          <a:xfrm>
            <a:off x="6426200" y="4622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0F131B"/>
                </a:solidFill>
                <a:latin typeface="Segoe UI" panose="020B0502040204020203" pitchFamily="34" charset="0"/>
              </a:rPr>
              <a:t>Efficiency needs people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B344A1-7982-B2B9-6021-69576183BC91}"/>
              </a:ext>
            </a:extLst>
          </p:cNvPr>
          <p:cNvSpPr txBox="1"/>
          <p:nvPr/>
        </p:nvSpPr>
        <p:spPr>
          <a:xfrm>
            <a:off x="6426200" y="4927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Headcount is logged on the same allocation as the output.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0A7997F-E9BF-1C68-6365-C7ACBE7F35F3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1F3FFE-290F-003C-108E-C83441B53E7A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F1916A-613D-B536-82CF-4CA977B3D680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349992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DC234-A259-2A61-9A31-46C60D198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3000" y="0"/>
            <a:ext cx="10287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099B46-321D-020A-6AD4-D8530C500A42}"/>
              </a:ext>
            </a:extLst>
          </p:cNvPr>
          <p:cNvSpPr/>
          <p:nvPr/>
        </p:nvSpPr>
        <p:spPr>
          <a:xfrm>
            <a:off x="-5080000" y="-5080000"/>
            <a:ext cx="50800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B49BA2-FFCF-5647-BA37-811F7192E8C6}"/>
              </a:ext>
            </a:extLst>
          </p:cNvPr>
          <p:cNvSpPr/>
          <p:nvPr/>
        </p:nvSpPr>
        <p:spPr>
          <a:xfrm>
            <a:off x="5461000" y="-5080000"/>
            <a:ext cx="11811000" cy="1701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FC4288-71BE-1E60-85CA-93EB35A1B9CC}"/>
              </a:ext>
            </a:extLst>
          </p:cNvPr>
          <p:cNvSpPr/>
          <p:nvPr/>
        </p:nvSpPr>
        <p:spPr>
          <a:xfrm>
            <a:off x="0" y="-5080000"/>
            <a:ext cx="5461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0C0E20-0BEA-B0D9-6B5E-92C500351075}"/>
              </a:ext>
            </a:extLst>
          </p:cNvPr>
          <p:cNvSpPr/>
          <p:nvPr/>
        </p:nvSpPr>
        <p:spPr>
          <a:xfrm>
            <a:off x="0" y="6858000"/>
            <a:ext cx="5461000" cy="5080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FD3EE3-0594-10BC-5C3E-01E154C108DD}"/>
              </a:ext>
            </a:extLst>
          </p:cNvPr>
          <p:cNvSpPr/>
          <p:nvPr/>
        </p:nvSpPr>
        <p:spPr>
          <a:xfrm>
            <a:off x="0" y="0"/>
            <a:ext cx="5461000" cy="6858000"/>
          </a:xfrm>
          <a:prstGeom prst="rect">
            <a:avLst/>
          </a:prstGeom>
          <a:solidFill>
            <a:srgbClr val="0F131B">
              <a:alpha val="7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1209A-7A9E-F373-355B-4B5674820447}"/>
              </a:ext>
            </a:extLst>
          </p:cNvPr>
          <p:cNvSpPr txBox="1"/>
          <p:nvPr/>
        </p:nvSpPr>
        <p:spPr>
          <a:xfrm>
            <a:off x="6070600" y="660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HANDOVER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652E8-DE4E-4AE1-7606-0620F89D8971}"/>
              </a:ext>
            </a:extLst>
          </p:cNvPr>
          <p:cNvSpPr txBox="1"/>
          <p:nvPr/>
        </p:nvSpPr>
        <p:spPr>
          <a:xfrm>
            <a:off x="6070600" y="1041400"/>
            <a:ext cx="546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000" b="1">
                <a:solidFill>
                  <a:srgbClr val="0F131B"/>
                </a:solidFill>
                <a:latin typeface="Segoe UI" panose="020B0502040204020203" pitchFamily="34" charset="0"/>
              </a:rPr>
              <a:t>Every movement of WIP
leaves a digital trail.</a:t>
            </a:r>
            <a:endParaRPr lang="en-IN" sz="30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1D1B5-95D3-27BA-4D2E-51FF3013623D}"/>
              </a:ext>
            </a:extLst>
          </p:cNvPr>
          <p:cNvSpPr txBox="1"/>
          <p:nvPr/>
        </p:nvSpPr>
        <p:spPr>
          <a:xfrm>
            <a:off x="6070600" y="20066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350">
                <a:solidFill>
                  <a:srgbClr val="6C7383"/>
                </a:solidFill>
                <a:latin typeface="Segoe UI" panose="020B0502040204020203" pitchFamily="34" charset="0"/>
              </a:rPr>
              <a:t>Pieces cannot appear downstream unless the previous department handed them over.</a:t>
            </a:r>
            <a:endParaRPr lang="en-IN" sz="13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83089A-8080-0561-14EC-6C60A0EF2720}"/>
              </a:ext>
            </a:extLst>
          </p:cNvPr>
          <p:cNvSpPr/>
          <p:nvPr/>
        </p:nvSpPr>
        <p:spPr>
          <a:xfrm>
            <a:off x="6070600" y="2832100"/>
            <a:ext cx="127000" cy="127000"/>
          </a:xfrm>
          <a:prstGeom prst="ellipse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2F6EDC-5349-FC3E-B635-C1B4D4128751}"/>
              </a:ext>
            </a:extLst>
          </p:cNvPr>
          <p:cNvSpPr/>
          <p:nvPr/>
        </p:nvSpPr>
        <p:spPr>
          <a:xfrm>
            <a:off x="6121400" y="2959100"/>
            <a:ext cx="25400" cy="5334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34A5BE-433A-3BC3-BAFA-1E4049C57A68}"/>
              </a:ext>
            </a:extLst>
          </p:cNvPr>
          <p:cNvSpPr txBox="1"/>
          <p:nvPr/>
        </p:nvSpPr>
        <p:spPr>
          <a:xfrm>
            <a:off x="6375400" y="2768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50" b="1">
                <a:solidFill>
                  <a:srgbClr val="0F131B"/>
                </a:solidFill>
                <a:latin typeface="Segoe UI" panose="020B0502040204020203" pitchFamily="34" charset="0"/>
              </a:rPr>
              <a:t>Pending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FBC29-DE65-4C9D-398B-690D58D105C2}"/>
              </a:ext>
            </a:extLst>
          </p:cNvPr>
          <p:cNvSpPr txBox="1"/>
          <p:nvPr/>
        </p:nvSpPr>
        <p:spPr>
          <a:xfrm>
            <a:off x="7975600" y="27686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6C7383"/>
                </a:solidFill>
                <a:latin typeface="Segoe UI" panose="020B0502040204020203" pitchFamily="34" charset="0"/>
              </a:rPr>
              <a:t>Sent. Awaiting receipt.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F17445D-1B87-B5D4-57C1-60B60D322F83}"/>
              </a:ext>
            </a:extLst>
          </p:cNvPr>
          <p:cNvSpPr/>
          <p:nvPr/>
        </p:nvSpPr>
        <p:spPr>
          <a:xfrm>
            <a:off x="6070600" y="3492500"/>
            <a:ext cx="127000" cy="127000"/>
          </a:xfrm>
          <a:prstGeom prst="ellipse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F2F473-EA8F-226E-8A91-61B1B27950C3}"/>
              </a:ext>
            </a:extLst>
          </p:cNvPr>
          <p:cNvSpPr/>
          <p:nvPr/>
        </p:nvSpPr>
        <p:spPr>
          <a:xfrm>
            <a:off x="6121400" y="3619500"/>
            <a:ext cx="25400" cy="5334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F32D7C-2DAB-79D9-7E6B-1C67FA449C45}"/>
              </a:ext>
            </a:extLst>
          </p:cNvPr>
          <p:cNvSpPr txBox="1"/>
          <p:nvPr/>
        </p:nvSpPr>
        <p:spPr>
          <a:xfrm>
            <a:off x="6375400" y="34290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50" b="1">
                <a:solidFill>
                  <a:srgbClr val="0F131B"/>
                </a:solidFill>
                <a:latin typeface="Segoe UI" panose="020B0502040204020203" pitchFamily="34" charset="0"/>
              </a:rPr>
              <a:t>Received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3F0160-30E6-9E73-48C4-50C9A37A6F95}"/>
              </a:ext>
            </a:extLst>
          </p:cNvPr>
          <p:cNvSpPr txBox="1"/>
          <p:nvPr/>
        </p:nvSpPr>
        <p:spPr>
          <a:xfrm>
            <a:off x="7975600" y="34290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6C7383"/>
                </a:solidFill>
                <a:latin typeface="Segoe UI" panose="020B0502040204020203" pitchFamily="34" charset="0"/>
              </a:rPr>
              <a:t>Counts match.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4294BD1-8DC7-16EC-B699-4EC0101542AA}"/>
              </a:ext>
            </a:extLst>
          </p:cNvPr>
          <p:cNvSpPr/>
          <p:nvPr/>
        </p:nvSpPr>
        <p:spPr>
          <a:xfrm>
            <a:off x="6070600" y="4152900"/>
            <a:ext cx="127000" cy="127000"/>
          </a:xfrm>
          <a:prstGeom prst="ellipse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F8684B-5C7D-B708-3034-43FF799E09C3}"/>
              </a:ext>
            </a:extLst>
          </p:cNvPr>
          <p:cNvSpPr/>
          <p:nvPr/>
        </p:nvSpPr>
        <p:spPr>
          <a:xfrm>
            <a:off x="6121400" y="4279900"/>
            <a:ext cx="25400" cy="5334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DB299-0DFA-EED8-887C-6BE8A51F4A8E}"/>
              </a:ext>
            </a:extLst>
          </p:cNvPr>
          <p:cNvSpPr txBox="1"/>
          <p:nvPr/>
        </p:nvSpPr>
        <p:spPr>
          <a:xfrm>
            <a:off x="6375400" y="40894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50" b="1">
                <a:solidFill>
                  <a:srgbClr val="0F131B"/>
                </a:solidFill>
                <a:latin typeface="Segoe UI" panose="020B0502040204020203" pitchFamily="34" charset="0"/>
              </a:rPr>
              <a:t>Disputed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1DE158-600E-32E4-9210-C44B19306B43}"/>
              </a:ext>
            </a:extLst>
          </p:cNvPr>
          <p:cNvSpPr txBox="1"/>
          <p:nvPr/>
        </p:nvSpPr>
        <p:spPr>
          <a:xfrm>
            <a:off x="7975600" y="40894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6C7383"/>
                </a:solidFill>
                <a:latin typeface="Segoe UI" panose="020B0502040204020203" pitchFamily="34" charset="0"/>
              </a:rPr>
              <a:t>What arrived differs.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F87CDD-8119-82F3-7D91-3DDB2FD7E660}"/>
              </a:ext>
            </a:extLst>
          </p:cNvPr>
          <p:cNvSpPr/>
          <p:nvPr/>
        </p:nvSpPr>
        <p:spPr>
          <a:xfrm>
            <a:off x="6070600" y="4813300"/>
            <a:ext cx="127000" cy="127000"/>
          </a:xfrm>
          <a:prstGeom prst="ellipse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FD12B0-F560-869D-12AB-FA970EA718CF}"/>
              </a:ext>
            </a:extLst>
          </p:cNvPr>
          <p:cNvSpPr txBox="1"/>
          <p:nvPr/>
        </p:nvSpPr>
        <p:spPr>
          <a:xfrm>
            <a:off x="6375400" y="47498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450" b="1">
                <a:solidFill>
                  <a:srgbClr val="0F131B"/>
                </a:solidFill>
                <a:latin typeface="Segoe UI" panose="020B0502040204020203" pitchFamily="34" charset="0"/>
              </a:rPr>
              <a:t>Closed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34AD57-0683-75CF-05AF-C939E98FB088}"/>
              </a:ext>
            </a:extLst>
          </p:cNvPr>
          <p:cNvSpPr txBox="1"/>
          <p:nvPr/>
        </p:nvSpPr>
        <p:spPr>
          <a:xfrm>
            <a:off x="7975600" y="4749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00">
                <a:solidFill>
                  <a:srgbClr val="6C7383"/>
                </a:solidFill>
                <a:latin typeface="Segoe UI" panose="020B0502040204020203" pitchFamily="34" charset="0"/>
              </a:rPr>
              <a:t>Loss owned, remarked, resolved.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D920E6D-A4EE-9DA3-2111-FB911C2935BA}"/>
              </a:ext>
            </a:extLst>
          </p:cNvPr>
          <p:cNvSpPr/>
          <p:nvPr/>
        </p:nvSpPr>
        <p:spPr>
          <a:xfrm>
            <a:off x="6070600" y="5435600"/>
            <a:ext cx="5461000" cy="736600"/>
          </a:xfrm>
          <a:prstGeom prst="roundRect">
            <a:avLst>
              <a:gd name="adj" fmla="val 17241"/>
            </a:avLst>
          </a:prstGeom>
          <a:solidFill>
            <a:srgbClr val="0F13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721634-653E-E5EA-487C-252D41BD6B41}"/>
              </a:ext>
            </a:extLst>
          </p:cNvPr>
          <p:cNvSpPr txBox="1"/>
          <p:nvPr/>
        </p:nvSpPr>
        <p:spPr>
          <a:xfrm>
            <a:off x="6299200" y="55626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00" b="1">
                <a:solidFill>
                  <a:srgbClr val="80A8FF"/>
                </a:solidFill>
                <a:latin typeface="Segoe UI" panose="020B0502040204020203" pitchFamily="34" charset="0"/>
              </a:rPr>
              <a:t>ON THE CHALLAN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17BD70-1C5F-10D7-33F4-7AF8067B37DA}"/>
              </a:ext>
            </a:extLst>
          </p:cNvPr>
          <p:cNvSpPr txBox="1"/>
          <p:nvPr/>
        </p:nvSpPr>
        <p:spPr>
          <a:xfrm>
            <a:off x="6299200" y="5791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>
                <a:solidFill>
                  <a:srgbClr val="FFFFFF"/>
                </a:solidFill>
                <a:latin typeface="Segoe UI" panose="020B0502040204020203" pitchFamily="34" charset="0"/>
              </a:rPr>
              <a:t>From → to · order &amp; colour · qty by size · who, and when</a:t>
            </a:r>
            <a:endParaRPr lang="en-IN" sz="12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1CCAE0-CEB7-E295-AF42-B48B6900AA7A}"/>
              </a:ext>
            </a:extLst>
          </p:cNvPr>
          <p:cNvSpPr txBox="1"/>
          <p:nvPr/>
        </p:nvSpPr>
        <p:spPr>
          <a:xfrm>
            <a:off x="10261600" y="6451600"/>
            <a:ext cx="127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298887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72159E-90CC-E340-BCB2-66715BB7F395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4D342-0B4B-779E-37DB-0DD48F32BB16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OUTSOURCE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D29FC-06D6-35BF-12AF-5C47690190C7}"/>
              </a:ext>
            </a:extLst>
          </p:cNvPr>
          <p:cNvSpPr txBox="1"/>
          <p:nvPr/>
        </p:nvSpPr>
        <p:spPr>
          <a:xfrm>
            <a:off x="812800" y="104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Outsourced work never
disappears from the picture.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7A0E3-CD82-0F02-28A4-B45D53ADE1EF}"/>
              </a:ext>
            </a:extLst>
          </p:cNvPr>
          <p:cNvSpPr txBox="1"/>
          <p:nvPr/>
        </p:nvSpPr>
        <p:spPr>
          <a:xfrm>
            <a:off x="812800" y="2235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750">
                <a:solidFill>
                  <a:srgbClr val="6C7383"/>
                </a:solidFill>
                <a:latin typeface="Segoe UI" panose="020B0502040204020203" pitchFamily="34" charset="0"/>
              </a:rPr>
              <a:t>Printing, washing, embroidery — still on the order, still reconcilable.</a:t>
            </a:r>
            <a:endParaRPr lang="en-IN" sz="17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786FF1-B1DA-E284-F9EF-DF64E422D31B}"/>
              </a:ext>
            </a:extLst>
          </p:cNvPr>
          <p:cNvSpPr/>
          <p:nvPr/>
        </p:nvSpPr>
        <p:spPr>
          <a:xfrm>
            <a:off x="812800" y="3175000"/>
            <a:ext cx="2489200" cy="1600200"/>
          </a:xfrm>
          <a:prstGeom prst="roundRect">
            <a:avLst>
              <a:gd name="adj" fmla="val 7937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0968F-701A-4CB2-2E67-B4AA68F19F23}"/>
              </a:ext>
            </a:extLst>
          </p:cNvPr>
          <p:cNvSpPr/>
          <p:nvPr/>
        </p:nvSpPr>
        <p:spPr>
          <a:xfrm>
            <a:off x="812800" y="3175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2B96C-BC51-C4EE-23F5-0FB4ECE0A54B}"/>
              </a:ext>
            </a:extLst>
          </p:cNvPr>
          <p:cNvSpPr txBox="1"/>
          <p:nvPr/>
        </p:nvSpPr>
        <p:spPr>
          <a:xfrm>
            <a:off x="1016000" y="3479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In-house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08555-7D5D-8353-F5ED-624DC2AA7CD0}"/>
              </a:ext>
            </a:extLst>
          </p:cNvPr>
          <p:cNvSpPr txBox="1"/>
          <p:nvPr/>
        </p:nvSpPr>
        <p:spPr>
          <a:xfrm>
            <a:off x="1016000" y="38862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Raises the out-challan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1583F2B-BC20-D815-4DEF-4C75A8541EEC}"/>
              </a:ext>
            </a:extLst>
          </p:cNvPr>
          <p:cNvSpPr/>
          <p:nvPr/>
        </p:nvSpPr>
        <p:spPr>
          <a:xfrm>
            <a:off x="3340100" y="3911600"/>
            <a:ext cx="177800" cy="127000"/>
          </a:xfrm>
          <a:prstGeom prst="rightArrow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C6B979-0189-A6A6-D898-78423CED9155}"/>
              </a:ext>
            </a:extLst>
          </p:cNvPr>
          <p:cNvSpPr/>
          <p:nvPr/>
        </p:nvSpPr>
        <p:spPr>
          <a:xfrm>
            <a:off x="3479800" y="3175000"/>
            <a:ext cx="2489200" cy="1600200"/>
          </a:xfrm>
          <a:prstGeom prst="roundRect">
            <a:avLst>
              <a:gd name="adj" fmla="val 7937"/>
            </a:avLst>
          </a:prstGeom>
          <a:solidFill>
            <a:srgbClr val="0F13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42DFDA-6CD9-239A-D0DA-7CE6E1A11E0D}"/>
              </a:ext>
            </a:extLst>
          </p:cNvPr>
          <p:cNvSpPr/>
          <p:nvPr/>
        </p:nvSpPr>
        <p:spPr>
          <a:xfrm>
            <a:off x="3479800" y="3175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39FBF1-436A-5A00-1FB0-AAC47206EF3D}"/>
              </a:ext>
            </a:extLst>
          </p:cNvPr>
          <p:cNvSpPr txBox="1"/>
          <p:nvPr/>
        </p:nvSpPr>
        <p:spPr>
          <a:xfrm>
            <a:off x="3683000" y="3479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Segoe UI" panose="020B0502040204020203" pitchFamily="34" charset="0"/>
              </a:rPr>
              <a:t>Vendor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F2CD89-3865-A765-724A-6EA0E95FF6A1}"/>
              </a:ext>
            </a:extLst>
          </p:cNvPr>
          <p:cNvSpPr txBox="1"/>
          <p:nvPr/>
        </p:nvSpPr>
        <p:spPr>
          <a:xfrm>
            <a:off x="3683000" y="38862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250">
                <a:solidFill>
                  <a:srgbClr val="C2C8D2"/>
                </a:solidFill>
                <a:latin typeface="Segoe UI" panose="020B0502040204020203" pitchFamily="34" charset="0"/>
              </a:rPr>
              <a:t>Work happens off-site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494E019-DA55-743C-9B60-67F1388A51F9}"/>
              </a:ext>
            </a:extLst>
          </p:cNvPr>
          <p:cNvSpPr/>
          <p:nvPr/>
        </p:nvSpPr>
        <p:spPr>
          <a:xfrm>
            <a:off x="6007100" y="3911600"/>
            <a:ext cx="177800" cy="127000"/>
          </a:xfrm>
          <a:prstGeom prst="rightArrow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E30DD3-926C-F545-58A2-69EF33FD1832}"/>
              </a:ext>
            </a:extLst>
          </p:cNvPr>
          <p:cNvSpPr/>
          <p:nvPr/>
        </p:nvSpPr>
        <p:spPr>
          <a:xfrm>
            <a:off x="6146800" y="3175000"/>
            <a:ext cx="2489200" cy="1600200"/>
          </a:xfrm>
          <a:prstGeom prst="roundRect">
            <a:avLst>
              <a:gd name="adj" fmla="val 7937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5C1DD9-8EC0-9271-F904-CB6F49F2F767}"/>
              </a:ext>
            </a:extLst>
          </p:cNvPr>
          <p:cNvSpPr/>
          <p:nvPr/>
        </p:nvSpPr>
        <p:spPr>
          <a:xfrm>
            <a:off x="6146800" y="3175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E00536-1CEC-0CA4-FF5C-924B6FD79F8A}"/>
              </a:ext>
            </a:extLst>
          </p:cNvPr>
          <p:cNvSpPr txBox="1"/>
          <p:nvPr/>
        </p:nvSpPr>
        <p:spPr>
          <a:xfrm>
            <a:off x="6350000" y="3479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Return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C3394-FB19-5F3B-20E4-CAEA3F0C5342}"/>
              </a:ext>
            </a:extLst>
          </p:cNvPr>
          <p:cNvSpPr txBox="1"/>
          <p:nvPr/>
        </p:nvSpPr>
        <p:spPr>
          <a:xfrm>
            <a:off x="6350000" y="38862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Return-challan comes back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D004175-B37A-BF66-47E8-70CE7884BA8A}"/>
              </a:ext>
            </a:extLst>
          </p:cNvPr>
          <p:cNvSpPr/>
          <p:nvPr/>
        </p:nvSpPr>
        <p:spPr>
          <a:xfrm>
            <a:off x="8674100" y="3911600"/>
            <a:ext cx="177800" cy="127000"/>
          </a:xfrm>
          <a:prstGeom prst="rightArrow">
            <a:avLst/>
          </a:prstGeom>
          <a:solidFill>
            <a:srgbClr val="C2C8D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1AD1AE-192B-18F3-B4E8-6F2C5F3E2140}"/>
              </a:ext>
            </a:extLst>
          </p:cNvPr>
          <p:cNvSpPr/>
          <p:nvPr/>
        </p:nvSpPr>
        <p:spPr>
          <a:xfrm>
            <a:off x="8813800" y="3175000"/>
            <a:ext cx="2489200" cy="1600200"/>
          </a:xfrm>
          <a:prstGeom prst="roundRect">
            <a:avLst>
              <a:gd name="adj" fmla="val 7937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2237CF-02C3-354E-260C-C07AE026085B}"/>
              </a:ext>
            </a:extLst>
          </p:cNvPr>
          <p:cNvSpPr/>
          <p:nvPr/>
        </p:nvSpPr>
        <p:spPr>
          <a:xfrm>
            <a:off x="8813800" y="3175000"/>
            <a:ext cx="24892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4E167D-81FE-D954-755E-E774E4356697}"/>
              </a:ext>
            </a:extLst>
          </p:cNvPr>
          <p:cNvSpPr txBox="1"/>
          <p:nvPr/>
        </p:nvSpPr>
        <p:spPr>
          <a:xfrm>
            <a:off x="9017000" y="34798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700" b="1">
                <a:solidFill>
                  <a:srgbClr val="0F131B"/>
                </a:solidFill>
                <a:latin typeface="Segoe UI" panose="020B0502040204020203" pitchFamily="34" charset="0"/>
              </a:rPr>
              <a:t>Next step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0718F5-0CF3-4A5E-01CD-7D93A078ABEF}"/>
              </a:ext>
            </a:extLst>
          </p:cNvPr>
          <p:cNvSpPr txBox="1"/>
          <p:nvPr/>
        </p:nvSpPr>
        <p:spPr>
          <a:xfrm>
            <a:off x="9017000" y="3886200"/>
            <a:ext cx="208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250">
                <a:solidFill>
                  <a:srgbClr val="6C7383"/>
                </a:solidFill>
                <a:latin typeface="Segoe UI" panose="020B0502040204020203" pitchFamily="34" charset="0"/>
              </a:rPr>
              <a:t>Receives into the flow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6395C4-5E83-713F-1267-CFDA986232BE}"/>
              </a:ext>
            </a:extLst>
          </p:cNvPr>
          <p:cNvSpPr/>
          <p:nvPr/>
        </p:nvSpPr>
        <p:spPr>
          <a:xfrm>
            <a:off x="812800" y="5054600"/>
            <a:ext cx="25400" cy="5588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444DAE-BAF5-33F5-EDCF-2297E16867E8}"/>
              </a:ext>
            </a:extLst>
          </p:cNvPr>
          <p:cNvSpPr txBox="1"/>
          <p:nvPr/>
        </p:nvSpPr>
        <p:spPr>
          <a:xfrm>
            <a:off x="1066800" y="5003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650">
                <a:solidFill>
                  <a:srgbClr val="333947"/>
                </a:solidFill>
                <a:latin typeface="Segoe UI" panose="020B0502040204020203" pitchFamily="34" charset="0"/>
              </a:rPr>
              <a:t>Both legs are challans. The pieces never leave the system — even while they leave the building.</a:t>
            </a:r>
            <a:endParaRPr lang="en-IN" sz="1650">
              <a:solidFill>
                <a:srgbClr val="333947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5F3C85-050A-CF79-7D93-BC801AFB01B5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823CAD-54C5-2FEC-F31D-D55AC1686822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8DD88-C725-A1D8-99D0-AD058DDC5523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9458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E776A2-1FBB-99EA-B567-3D71124200D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A564D-44F6-22AA-6C7F-D9ED207591C0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MEASURE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D0133-A8F4-288A-1599-9E4DA003B988}"/>
              </a:ext>
            </a:extLst>
          </p:cNvPr>
          <p:cNvSpPr txBox="1"/>
          <p:nvPr/>
        </p:nvSpPr>
        <p:spPr>
          <a:xfrm>
            <a:off x="812800" y="104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Production becomes management
insight on the same day.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924328-0D82-4455-D0DF-AC084A50D498}"/>
              </a:ext>
            </a:extLst>
          </p:cNvPr>
          <p:cNvSpPr/>
          <p:nvPr/>
        </p:nvSpPr>
        <p:spPr>
          <a:xfrm>
            <a:off x="812800" y="2489200"/>
            <a:ext cx="5130800" cy="3276600"/>
          </a:xfrm>
          <a:prstGeom prst="roundRect">
            <a:avLst>
              <a:gd name="adj" fmla="val 4651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76D7B6-6989-4A83-4754-1B4C804E85A2}"/>
              </a:ext>
            </a:extLst>
          </p:cNvPr>
          <p:cNvSpPr/>
          <p:nvPr/>
        </p:nvSpPr>
        <p:spPr>
          <a:xfrm>
            <a:off x="812800" y="2489200"/>
            <a:ext cx="51308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9F6F1F-ECEA-86A5-DC53-363922E06EBA}"/>
              </a:ext>
            </a:extLst>
          </p:cNvPr>
          <p:cNvSpPr txBox="1"/>
          <p:nvPr/>
        </p:nvSpPr>
        <p:spPr>
          <a:xfrm>
            <a:off x="1117600" y="2768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1F5EFF"/>
                </a:solidFill>
                <a:latin typeface="Segoe UI" panose="020B0502040204020203" pitchFamily="34" charset="0"/>
              </a:rPr>
              <a:t>DAY ·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EC2FC8-4D5A-DC7D-CDF4-27B3BC2D5DB1}"/>
              </a:ext>
            </a:extLst>
          </p:cNvPr>
          <p:cNvSpPr txBox="1"/>
          <p:nvPr/>
        </p:nvSpPr>
        <p:spPr>
          <a:xfrm>
            <a:off x="1117600" y="3073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0F131B"/>
                </a:solidFill>
                <a:latin typeface="Segoe UI" panose="020B0502040204020203" pitchFamily="34" charset="0"/>
              </a:rPr>
              <a:t>How did the factory run?</a:t>
            </a:r>
            <a:endParaRPr lang="en-IN" sz="21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8EDBC-D333-39BA-C23F-DF9617869FF1}"/>
              </a:ext>
            </a:extLst>
          </p:cNvPr>
          <p:cNvSpPr txBox="1"/>
          <p:nvPr/>
        </p:nvSpPr>
        <p:spPr>
          <a:xfrm>
            <a:off x="1117600" y="3657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4A5160"/>
                </a:solidFill>
                <a:latin typeface="Segoe UI" panose="020B0502040204020203" pitchFamily="34" charset="0"/>
              </a:rPr>
              <a:t>Department output for any date range</a:t>
            </a:r>
            <a:endParaRPr lang="en-IN" sz="1350">
              <a:solidFill>
                <a:srgbClr val="4A516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96D29C-FD33-328C-C77A-361F5B2409E8}"/>
              </a:ext>
            </a:extLst>
          </p:cNvPr>
          <p:cNvSpPr txBox="1"/>
          <p:nvPr/>
        </p:nvSpPr>
        <p:spPr>
          <a:xfrm>
            <a:off x="1117600" y="40894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50">
                <a:solidFill>
                  <a:srgbClr val="4A5160"/>
                </a:solidFill>
                <a:latin typeface="Segoe UI" panose="020B0502040204020203" pitchFamily="34" charset="0"/>
              </a:rPr>
              <a:t>Handovers sent, received, disputed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9D087-0FB3-E430-5729-FDAA7B9CA458}"/>
              </a:ext>
            </a:extLst>
          </p:cNvPr>
          <p:cNvSpPr txBox="1"/>
          <p:nvPr/>
        </p:nvSpPr>
        <p:spPr>
          <a:xfrm>
            <a:off x="1117600" y="45212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4A5160"/>
                </a:solidFill>
                <a:latin typeface="Segoe UI" panose="020B0502040204020203" pitchFamily="34" charset="0"/>
              </a:rPr>
              <a:t>Efficiency from output and workforce</a:t>
            </a:r>
            <a:endParaRPr lang="en-IN" sz="1350">
              <a:solidFill>
                <a:srgbClr val="4A516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2373B-1849-A144-42E3-FEFBA7A5FA4B}"/>
              </a:ext>
            </a:extLst>
          </p:cNvPr>
          <p:cNvSpPr txBox="1"/>
          <p:nvPr/>
        </p:nvSpPr>
        <p:spPr>
          <a:xfrm>
            <a:off x="1117600" y="4953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4A5160"/>
                </a:solidFill>
                <a:latin typeface="Segoe UI" panose="020B0502040204020203" pitchFamily="34" charset="0"/>
              </a:rPr>
              <a:t>The morning review, already compiled</a:t>
            </a:r>
            <a:endParaRPr lang="en-IN" sz="1350">
              <a:solidFill>
                <a:srgbClr val="4A5160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63AB6B-95C4-EC2B-DE9F-8DADECC1C18A}"/>
              </a:ext>
            </a:extLst>
          </p:cNvPr>
          <p:cNvSpPr/>
          <p:nvPr/>
        </p:nvSpPr>
        <p:spPr>
          <a:xfrm>
            <a:off x="6248400" y="2489200"/>
            <a:ext cx="5130800" cy="3276600"/>
          </a:xfrm>
          <a:prstGeom prst="roundRect">
            <a:avLst>
              <a:gd name="adj" fmla="val 4651"/>
            </a:avLst>
          </a:prstGeom>
          <a:solidFill>
            <a:srgbClr val="0F13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04581-CBDE-80B1-0998-C03FA4D1311C}"/>
              </a:ext>
            </a:extLst>
          </p:cNvPr>
          <p:cNvSpPr/>
          <p:nvPr/>
        </p:nvSpPr>
        <p:spPr>
          <a:xfrm>
            <a:off x="6248400" y="2489200"/>
            <a:ext cx="51308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C5C712-A015-23BC-07E9-417552DFD2E5}"/>
              </a:ext>
            </a:extLst>
          </p:cNvPr>
          <p:cNvSpPr txBox="1"/>
          <p:nvPr/>
        </p:nvSpPr>
        <p:spPr>
          <a:xfrm>
            <a:off x="6553200" y="2768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80A8FF"/>
                </a:solidFill>
                <a:latin typeface="Segoe UI" panose="020B0502040204020203" pitchFamily="34" charset="0"/>
              </a:rPr>
              <a:t>STYLE · ORDER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8D1423-1FE2-59A2-2027-4002EDC47124}"/>
              </a:ext>
            </a:extLst>
          </p:cNvPr>
          <p:cNvSpPr txBox="1"/>
          <p:nvPr/>
        </p:nvSpPr>
        <p:spPr>
          <a:xfrm>
            <a:off x="6553200" y="3073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Segoe UI" panose="020B0502040204020203" pitchFamily="34" charset="0"/>
              </a:rPr>
              <a:t>How is this order moving?</a:t>
            </a:r>
            <a:endParaRPr lang="en-IN" sz="2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0AD516-9AB0-4B7D-9CEE-CD71D8106EE2}"/>
              </a:ext>
            </a:extLst>
          </p:cNvPr>
          <p:cNvSpPr txBox="1"/>
          <p:nvPr/>
        </p:nvSpPr>
        <p:spPr>
          <a:xfrm>
            <a:off x="6553200" y="36576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C2C8D2"/>
                </a:solidFill>
                <a:latin typeface="Segoe UI" panose="020B0502040204020203" pitchFamily="34" charset="0"/>
              </a:rPr>
              <a:t>Production matrix across the route</a:t>
            </a:r>
            <a:endParaRPr lang="en-IN" sz="1350">
              <a:solidFill>
                <a:srgbClr val="C2C8D2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FC654-2C54-23CC-3C44-A153C5D7728C}"/>
              </a:ext>
            </a:extLst>
          </p:cNvPr>
          <p:cNvSpPr txBox="1"/>
          <p:nvPr/>
        </p:nvSpPr>
        <p:spPr>
          <a:xfrm>
            <a:off x="6553200" y="40894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C2C8D2"/>
                </a:solidFill>
                <a:latin typeface="Segoe UI" panose="020B0502040204020203" pitchFamily="34" charset="0"/>
              </a:rPr>
              <a:t>Daily output trend per department</a:t>
            </a:r>
            <a:endParaRPr lang="en-IN" sz="1350">
              <a:solidFill>
                <a:srgbClr val="C2C8D2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178D25-AA86-DC50-E8CD-09A5D1D95938}"/>
              </a:ext>
            </a:extLst>
          </p:cNvPr>
          <p:cNvSpPr txBox="1"/>
          <p:nvPr/>
        </p:nvSpPr>
        <p:spPr>
          <a:xfrm>
            <a:off x="6553200" y="45212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350">
                <a:solidFill>
                  <a:srgbClr val="C2C8D2"/>
                </a:solidFill>
                <a:latin typeface="Segoe UI" panose="020B0502040204020203" pitchFamily="34" charset="0"/>
              </a:rPr>
              <a:t>Cut-to-ship and fulfillment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67727D-9D65-B048-B46A-93709219E892}"/>
              </a:ext>
            </a:extLst>
          </p:cNvPr>
          <p:cNvSpPr txBox="1"/>
          <p:nvPr/>
        </p:nvSpPr>
        <p:spPr>
          <a:xfrm>
            <a:off x="6553200" y="4953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50">
                <a:solidFill>
                  <a:srgbClr val="C2C8D2"/>
                </a:solidFill>
                <a:latin typeface="Segoe UI" panose="020B0502040204020203" pitchFamily="34" charset="0"/>
              </a:rPr>
              <a:t>The handover journey, end to end</a:t>
            </a:r>
            <a:endParaRPr lang="en-IN" sz="1350">
              <a:solidFill>
                <a:srgbClr val="C2C8D2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1E2A41-E964-E660-38C5-51A748FFB95A}"/>
              </a:ext>
            </a:extLst>
          </p:cNvPr>
          <p:cNvSpPr txBox="1"/>
          <p:nvPr/>
        </p:nvSpPr>
        <p:spPr>
          <a:xfrm>
            <a:off x="812800" y="5918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6C7383"/>
                </a:solidFill>
                <a:latin typeface="Segoe UI" panose="020B0502040204020203" pitchFamily="34" charset="0"/>
              </a:rPr>
              <a:t>Same actuals. Two lenses. No overnight batch.</a:t>
            </a:r>
            <a:endParaRPr lang="en-IN" sz="14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7C0606-2C29-0CCA-2BDE-66AF3065C1A2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4AA26F-EC31-F69F-AD10-5622F0D67C96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FE147D-59E4-ED0B-AEF0-6633379375F2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3518819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AB963-CDF1-4041-E2AA-84370B04E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70B864-242F-E786-F957-7E551DFA3E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31B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39A07A-C1B8-E080-6D65-5AF4893E389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19438-309B-2B8F-630D-D8E2FD31493B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80A8FF"/>
                </a:solidFill>
                <a:latin typeface="Segoe UI" panose="020B0502040204020203" pitchFamily="34" charset="0"/>
              </a:rPr>
              <a:t>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D65612-B5BD-8C81-6A5A-4C7C4FBF8712}"/>
              </a:ext>
            </a:extLst>
          </p:cNvPr>
          <p:cNvSpPr txBox="1"/>
          <p:nvPr/>
        </p:nvSpPr>
        <p:spPr>
          <a:xfrm>
            <a:off x="812800" y="1066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600" b="1">
                <a:solidFill>
                  <a:srgbClr val="FFFFFF"/>
                </a:solidFill>
                <a:latin typeface="Segoe UI" panose="020B0502040204020203" pitchFamily="34" charset="0"/>
              </a:rPr>
              <a:t>The factory can see the risk
before the order is late.</a:t>
            </a:r>
            <a:endParaRPr lang="en-IN" sz="3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35E95B-1002-C695-E242-690B6FE7C75B}"/>
              </a:ext>
            </a:extLst>
          </p:cNvPr>
          <p:cNvSpPr/>
          <p:nvPr/>
        </p:nvSpPr>
        <p:spPr>
          <a:xfrm>
            <a:off x="812800" y="2870200"/>
            <a:ext cx="1905000" cy="1473200"/>
          </a:xfrm>
          <a:prstGeom prst="roundRect">
            <a:avLst>
              <a:gd name="adj" fmla="val 8621"/>
            </a:avLst>
          </a:prstGeom>
          <a:solidFill>
            <a:srgbClr val="1F24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5CBFF-2577-A94A-1F02-6595BFD73506}"/>
              </a:ext>
            </a:extLst>
          </p:cNvPr>
          <p:cNvSpPr/>
          <p:nvPr/>
        </p:nvSpPr>
        <p:spPr>
          <a:xfrm>
            <a:off x="812800" y="28702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620E0-18CF-1782-CCA4-D8CB1F1C6807}"/>
              </a:ext>
            </a:extLst>
          </p:cNvPr>
          <p:cNvSpPr txBox="1"/>
          <p:nvPr/>
        </p:nvSpPr>
        <p:spPr>
          <a:xfrm>
            <a:off x="990600" y="31496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63B8A-3F93-C72D-F388-4CB8A120EC27}"/>
              </a:ext>
            </a:extLst>
          </p:cNvPr>
          <p:cNvSpPr txBox="1"/>
          <p:nvPr/>
        </p:nvSpPr>
        <p:spPr>
          <a:xfrm>
            <a:off x="990600" y="3708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00">
                <a:solidFill>
                  <a:srgbClr val="9AA1AE"/>
                </a:solidFill>
                <a:latin typeface="Segoe UI" panose="020B0502040204020203" pitchFamily="34" charset="0"/>
              </a:rPr>
              <a:t>against the plan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B34539-E2A9-347D-DEFD-668DEF01C28C}"/>
              </a:ext>
            </a:extLst>
          </p:cNvPr>
          <p:cNvSpPr/>
          <p:nvPr/>
        </p:nvSpPr>
        <p:spPr>
          <a:xfrm>
            <a:off x="2971800" y="2870200"/>
            <a:ext cx="1905000" cy="1473200"/>
          </a:xfrm>
          <a:prstGeom prst="roundRect">
            <a:avLst>
              <a:gd name="adj" fmla="val 8621"/>
            </a:avLst>
          </a:prstGeom>
          <a:solidFill>
            <a:srgbClr val="1F24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AC5C64-79BD-C113-F614-6D7C6F41265C}"/>
              </a:ext>
            </a:extLst>
          </p:cNvPr>
          <p:cNvSpPr/>
          <p:nvPr/>
        </p:nvSpPr>
        <p:spPr>
          <a:xfrm>
            <a:off x="2971800" y="28702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D3C26-1C3E-83BD-4E5B-4FDD91DF00B9}"/>
              </a:ext>
            </a:extLst>
          </p:cNvPr>
          <p:cNvSpPr txBox="1"/>
          <p:nvPr/>
        </p:nvSpPr>
        <p:spPr>
          <a:xfrm>
            <a:off x="3149600" y="31496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Efficiency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ABB780-CF84-1470-DC3F-381D086AD076}"/>
              </a:ext>
            </a:extLst>
          </p:cNvPr>
          <p:cNvSpPr txBox="1"/>
          <p:nvPr/>
        </p:nvSpPr>
        <p:spPr>
          <a:xfrm>
            <a:off x="3149600" y="3708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00">
                <a:solidFill>
                  <a:srgbClr val="9AA1AE"/>
                </a:solidFill>
                <a:latin typeface="Segoe UI" panose="020B0502040204020203" pitchFamily="34" charset="0"/>
              </a:rPr>
              <a:t>output vs people &amp; time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94B2E0-CA81-839A-8393-DB7B48AE540A}"/>
              </a:ext>
            </a:extLst>
          </p:cNvPr>
          <p:cNvSpPr/>
          <p:nvPr/>
        </p:nvSpPr>
        <p:spPr>
          <a:xfrm>
            <a:off x="5130800" y="2870200"/>
            <a:ext cx="1905000" cy="1473200"/>
          </a:xfrm>
          <a:prstGeom prst="roundRect">
            <a:avLst>
              <a:gd name="adj" fmla="val 8621"/>
            </a:avLst>
          </a:prstGeom>
          <a:solidFill>
            <a:srgbClr val="1F24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22D44D-4CEF-A506-6219-92BA2D06B291}"/>
              </a:ext>
            </a:extLst>
          </p:cNvPr>
          <p:cNvSpPr/>
          <p:nvPr/>
        </p:nvSpPr>
        <p:spPr>
          <a:xfrm>
            <a:off x="5130800" y="28702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DC8BF4-8635-F9B2-73CC-66456523A73A}"/>
              </a:ext>
            </a:extLst>
          </p:cNvPr>
          <p:cNvSpPr txBox="1"/>
          <p:nvPr/>
        </p:nvSpPr>
        <p:spPr>
          <a:xfrm>
            <a:off x="5308600" y="31496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Floor WIP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815C0F-9CEC-889D-0116-AA22A5B572B8}"/>
              </a:ext>
            </a:extLst>
          </p:cNvPr>
          <p:cNvSpPr txBox="1"/>
          <p:nvPr/>
        </p:nvSpPr>
        <p:spPr>
          <a:xfrm>
            <a:off x="5308600" y="3708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9AA1AE"/>
                </a:solidFill>
                <a:latin typeface="Segoe UI" panose="020B0502040204020203" pitchFamily="34" charset="0"/>
              </a:rPr>
              <a:t>pieces on the floor now</a:t>
            </a:r>
            <a:endParaRPr lang="en-IN" sz="1200">
              <a:solidFill>
                <a:srgbClr val="9AA1AE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EB5D78-3A58-F85A-3D65-6CDE28D985CA}"/>
              </a:ext>
            </a:extLst>
          </p:cNvPr>
          <p:cNvSpPr/>
          <p:nvPr/>
        </p:nvSpPr>
        <p:spPr>
          <a:xfrm>
            <a:off x="7289800" y="2870200"/>
            <a:ext cx="1905000" cy="1473200"/>
          </a:xfrm>
          <a:prstGeom prst="roundRect">
            <a:avLst>
              <a:gd name="adj" fmla="val 8621"/>
            </a:avLst>
          </a:prstGeom>
          <a:solidFill>
            <a:srgbClr val="1F24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169EDD-C2A8-EC5E-F5D8-01E6625149A0}"/>
              </a:ext>
            </a:extLst>
          </p:cNvPr>
          <p:cNvSpPr/>
          <p:nvPr/>
        </p:nvSpPr>
        <p:spPr>
          <a:xfrm>
            <a:off x="7289800" y="28702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C97D8-6ADB-F84F-0942-78008DB4DEDA}"/>
              </a:ext>
            </a:extLst>
          </p:cNvPr>
          <p:cNvSpPr txBox="1"/>
          <p:nvPr/>
        </p:nvSpPr>
        <p:spPr>
          <a:xfrm>
            <a:off x="7467600" y="31496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Active orders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23DB14-E94F-BC68-CEC7-AB0DA6016E3A}"/>
              </a:ext>
            </a:extLst>
          </p:cNvPr>
          <p:cNvSpPr txBox="1"/>
          <p:nvPr/>
        </p:nvSpPr>
        <p:spPr>
          <a:xfrm>
            <a:off x="7467600" y="3708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00">
                <a:solidFill>
                  <a:srgbClr val="9AA1AE"/>
                </a:solidFill>
                <a:latin typeface="Segoe UI" panose="020B0502040204020203" pitchFamily="34" charset="0"/>
              </a:rPr>
              <a:t>in production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5E09A72-FE40-DEF7-FB0A-1050157EE310}"/>
              </a:ext>
            </a:extLst>
          </p:cNvPr>
          <p:cNvSpPr/>
          <p:nvPr/>
        </p:nvSpPr>
        <p:spPr>
          <a:xfrm>
            <a:off x="9448800" y="2870200"/>
            <a:ext cx="1905000" cy="1473200"/>
          </a:xfrm>
          <a:prstGeom prst="roundRect">
            <a:avLst>
              <a:gd name="adj" fmla="val 8621"/>
            </a:avLst>
          </a:prstGeom>
          <a:solidFill>
            <a:srgbClr val="1F24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80E92-E3FC-EC11-3AC8-110B0B8527C8}"/>
              </a:ext>
            </a:extLst>
          </p:cNvPr>
          <p:cNvSpPr/>
          <p:nvPr/>
        </p:nvSpPr>
        <p:spPr>
          <a:xfrm>
            <a:off x="9448800" y="2870200"/>
            <a:ext cx="19050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F2037E-7E76-3357-B864-B89459171E0B}"/>
              </a:ext>
            </a:extLst>
          </p:cNvPr>
          <p:cNvSpPr txBox="1"/>
          <p:nvPr/>
        </p:nvSpPr>
        <p:spPr>
          <a:xfrm>
            <a:off x="9626600" y="31496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Segoe UI" panose="020B0502040204020203" pitchFamily="34" charset="0"/>
              </a:rPr>
              <a:t>Order → Ship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06CFE8-4421-89E4-0C32-8FBBE12BFA9C}"/>
              </a:ext>
            </a:extLst>
          </p:cNvPr>
          <p:cNvSpPr txBox="1"/>
          <p:nvPr/>
        </p:nvSpPr>
        <p:spPr>
          <a:xfrm>
            <a:off x="9626600" y="3708400"/>
            <a:ext cx="1549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IN" sz="1200">
                <a:solidFill>
                  <a:srgbClr val="9AA1AE"/>
                </a:solidFill>
                <a:latin typeface="Segoe UI" panose="020B0502040204020203" pitchFamily="34" charset="0"/>
              </a:rPr>
              <a:t>shipped vs ordered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366A67-6CD4-12E3-793E-ADD24CB6982A}"/>
              </a:ext>
            </a:extLst>
          </p:cNvPr>
          <p:cNvSpPr/>
          <p:nvPr/>
        </p:nvSpPr>
        <p:spPr>
          <a:xfrm>
            <a:off x="812800" y="4851400"/>
            <a:ext cx="25400" cy="762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F41121-F75E-07B8-83E9-5FB491752ACD}"/>
              </a:ext>
            </a:extLst>
          </p:cNvPr>
          <p:cNvSpPr txBox="1"/>
          <p:nvPr/>
        </p:nvSpPr>
        <p:spPr>
          <a:xfrm>
            <a:off x="1066800" y="48006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Segoe UI" panose="020B0502040204020203" pitchFamily="34" charset="0"/>
              </a:rPr>
              <a:t>Then the list that actually matters</a:t>
            </a:r>
            <a:endParaRPr lang="en-IN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4D42C7-B81A-DC0D-DCE7-113478865B13}"/>
              </a:ext>
            </a:extLst>
          </p:cNvPr>
          <p:cNvSpPr txBox="1"/>
          <p:nvPr/>
        </p:nvSpPr>
        <p:spPr>
          <a:xfrm>
            <a:off x="1066800" y="5130800"/>
            <a:ext cx="596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350">
                <a:solidFill>
                  <a:srgbClr val="C2C8D2"/>
                </a:solidFill>
                <a:latin typeface="Segoe UI" panose="020B0502040204020203" pitchFamily="34" charset="0"/>
              </a:rPr>
              <a:t>Orders with balance still to ship — drill into the day, the style, or the floor.</a:t>
            </a:r>
            <a:endParaRPr lang="en-IN" sz="1350">
              <a:solidFill>
                <a:srgbClr val="C2C8D2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64E7C7-E51E-FA44-FD26-AC45D7E6DD3C}"/>
              </a:ext>
            </a:extLst>
          </p:cNvPr>
          <p:cNvSpPr txBox="1"/>
          <p:nvPr/>
        </p:nvSpPr>
        <p:spPr>
          <a:xfrm>
            <a:off x="7670800" y="48006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350">
                <a:solidFill>
                  <a:srgbClr val="9AA1AE"/>
                </a:solidFill>
                <a:latin typeface="Segoe UI" panose="020B0502040204020203" pitchFamily="34" charset="0"/>
              </a:rPr>
              <a:t>Every number on this screen traces back
to a tap on the floor.</a:t>
            </a:r>
            <a:endParaRPr lang="en-IN" sz="1350">
              <a:solidFill>
                <a:srgbClr val="9AA1AE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CF7656-21C2-E904-15A8-E088A552DDF7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252B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668B63-774F-F343-B3F9-DB2994B97F0B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4A5160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41CB1A-ECF0-7CBC-D612-90BFB0D3DE69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4A5160"/>
                </a:solidFill>
                <a:latin typeface="Segoe UI" panose="020B0502040204020203" pitchFamily="34" charset="0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912470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5331DB-B442-2C15-5097-5D1428CB72B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B0D91-28C0-55E5-F31F-7B6DCA0CAE0B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TRUST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8F2A1-A998-407E-D233-B174CED9919C}"/>
              </a:ext>
            </a:extLst>
          </p:cNvPr>
          <p:cNvSpPr txBox="1"/>
          <p:nvPr/>
        </p:nvSpPr>
        <p:spPr>
          <a:xfrm>
            <a:off x="812800" y="1016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400" b="1">
                <a:solidFill>
                  <a:srgbClr val="0F131B"/>
                </a:solidFill>
                <a:latin typeface="Segoe UI" panose="020B0502040204020203" pitchFamily="34" charset="0"/>
              </a:rPr>
              <a:t>The numbers can be trusted because
the factory cannot skip the truth.</a:t>
            </a:r>
            <a:endParaRPr lang="en-IN" sz="34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7010C-C9D7-9692-F97D-09F7BC55DC15}"/>
              </a:ext>
            </a:extLst>
          </p:cNvPr>
          <p:cNvSpPr txBox="1"/>
          <p:nvPr/>
        </p:nvSpPr>
        <p:spPr>
          <a:xfrm>
            <a:off x="812800" y="21844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DDE1E8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A15E4-A0A5-81C1-9595-4C779CFD9C28}"/>
              </a:ext>
            </a:extLst>
          </p:cNvPr>
          <p:cNvSpPr txBox="1"/>
          <p:nvPr/>
        </p:nvSpPr>
        <p:spPr>
          <a:xfrm>
            <a:off x="1397000" y="22352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 b="1">
                <a:solidFill>
                  <a:srgbClr val="0F131B"/>
                </a:solidFill>
                <a:latin typeface="Segoe UI" panose="020B0502040204020203" pitchFamily="34" charset="0"/>
              </a:rPr>
              <a:t>One truth at a time</a:t>
            </a:r>
            <a:endParaRPr lang="en-IN" sz="155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86799-FF57-32E6-A174-76A439100C43}"/>
              </a:ext>
            </a:extLst>
          </p:cNvPr>
          <p:cNvSpPr txBox="1"/>
          <p:nvPr/>
        </p:nvSpPr>
        <p:spPr>
          <a:xfrm>
            <a:off x="6248400" y="22352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A department cannot count the same work as hourly output and as QC.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720DDD-44C2-78ED-7A1F-1591FC47B819}"/>
              </a:ext>
            </a:extLst>
          </p:cNvPr>
          <p:cNvSpPr/>
          <p:nvPr/>
        </p:nvSpPr>
        <p:spPr>
          <a:xfrm>
            <a:off x="1397000" y="2794000"/>
            <a:ext cx="9982200" cy="12700"/>
          </a:xfrm>
          <a:prstGeom prst="rect">
            <a:avLst/>
          </a:prstGeom>
          <a:solidFill>
            <a:srgbClr val="EEF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7A03A-DBCD-5325-7B00-6902412DCD60}"/>
              </a:ext>
            </a:extLst>
          </p:cNvPr>
          <p:cNvSpPr txBox="1"/>
          <p:nvPr/>
        </p:nvSpPr>
        <p:spPr>
          <a:xfrm>
            <a:off x="812800" y="29718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DDE1E8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A1654-F856-E9D7-1742-DF3D68769EC4}"/>
              </a:ext>
            </a:extLst>
          </p:cNvPr>
          <p:cNvSpPr txBox="1"/>
          <p:nvPr/>
        </p:nvSpPr>
        <p:spPr>
          <a:xfrm>
            <a:off x="1397000" y="30226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 b="1">
                <a:solidFill>
                  <a:srgbClr val="0F131B"/>
                </a:solidFill>
                <a:latin typeface="Segoe UI" panose="020B0502040204020203" pitchFamily="34" charset="0"/>
              </a:rPr>
              <a:t>You cannot produce what has not arrived</a:t>
            </a:r>
            <a:endParaRPr lang="en-IN" sz="155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1BC0B-3200-D764-D7FB-560CB0A360A1}"/>
              </a:ext>
            </a:extLst>
          </p:cNvPr>
          <p:cNvSpPr txBox="1"/>
          <p:nvPr/>
        </p:nvSpPr>
        <p:spPr>
          <a:xfrm>
            <a:off x="6248400" y="3022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Downstream capture waits on handover. Cutting is where the count is born.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92E4D-E849-E165-AD4F-FE55183A4D0C}"/>
              </a:ext>
            </a:extLst>
          </p:cNvPr>
          <p:cNvSpPr/>
          <p:nvPr/>
        </p:nvSpPr>
        <p:spPr>
          <a:xfrm>
            <a:off x="1397000" y="3581400"/>
            <a:ext cx="9982200" cy="12700"/>
          </a:xfrm>
          <a:prstGeom prst="rect">
            <a:avLst/>
          </a:prstGeom>
          <a:solidFill>
            <a:srgbClr val="EEF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205DBC-DE11-F871-0852-000893B83B41}"/>
              </a:ext>
            </a:extLst>
          </p:cNvPr>
          <p:cNvSpPr txBox="1"/>
          <p:nvPr/>
        </p:nvSpPr>
        <p:spPr>
          <a:xfrm>
            <a:off x="812800" y="37592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DDE1E8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7065DA-3F60-3D36-5C9F-9E2C7F805632}"/>
              </a:ext>
            </a:extLst>
          </p:cNvPr>
          <p:cNvSpPr txBox="1"/>
          <p:nvPr/>
        </p:nvSpPr>
        <p:spPr>
          <a:xfrm>
            <a:off x="1397000" y="38100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50" b="1">
                <a:solidFill>
                  <a:srgbClr val="0F131B"/>
                </a:solidFill>
                <a:latin typeface="Segoe UI" panose="020B0502040204020203" pitchFamily="34" charset="0"/>
              </a:rPr>
              <a:t>Every gap has an owner</a:t>
            </a:r>
            <a:endParaRPr lang="en-IN" sz="155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89877-6F95-6C62-0471-40D9301D85C0}"/>
              </a:ext>
            </a:extLst>
          </p:cNvPr>
          <p:cNvSpPr txBox="1"/>
          <p:nvPr/>
        </p:nvSpPr>
        <p:spPr>
          <a:xfrm>
            <a:off x="6248400" y="38100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A disputed challan closes as acknowledged loss, not a quiet correction.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54EB5F-BC27-DF72-CAA9-FFA812A6E0FB}"/>
              </a:ext>
            </a:extLst>
          </p:cNvPr>
          <p:cNvSpPr/>
          <p:nvPr/>
        </p:nvSpPr>
        <p:spPr>
          <a:xfrm>
            <a:off x="1397000" y="4368800"/>
            <a:ext cx="9982200" cy="12700"/>
          </a:xfrm>
          <a:prstGeom prst="rect">
            <a:avLst/>
          </a:prstGeom>
          <a:solidFill>
            <a:srgbClr val="EEF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09874-E420-F651-1B63-1722D51B2366}"/>
              </a:ext>
            </a:extLst>
          </p:cNvPr>
          <p:cNvSpPr txBox="1"/>
          <p:nvPr/>
        </p:nvSpPr>
        <p:spPr>
          <a:xfrm>
            <a:off x="812800" y="45466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DDE1E8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65CF2D-0791-807F-CAD2-F052A5D118F6}"/>
              </a:ext>
            </a:extLst>
          </p:cNvPr>
          <p:cNvSpPr txBox="1"/>
          <p:nvPr/>
        </p:nvSpPr>
        <p:spPr>
          <a:xfrm>
            <a:off x="1397000" y="45974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50" b="1">
                <a:solidFill>
                  <a:srgbClr val="0F131B"/>
                </a:solidFill>
                <a:latin typeface="Segoe UI" panose="020B0502040204020203" pitchFamily="34" charset="0"/>
              </a:rPr>
              <a:t>History does not rewrite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FDDEB0-CABF-AF3E-06E0-61D839F68900}"/>
              </a:ext>
            </a:extLst>
          </p:cNvPr>
          <p:cNvSpPr txBox="1"/>
          <p:nvPr/>
        </p:nvSpPr>
        <p:spPr>
          <a:xfrm>
            <a:off x="6248400" y="45974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The route is locked onto the order the moment planning applies it.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A02CC2-83C6-E878-84E9-7A54F00DCA95}"/>
              </a:ext>
            </a:extLst>
          </p:cNvPr>
          <p:cNvSpPr/>
          <p:nvPr/>
        </p:nvSpPr>
        <p:spPr>
          <a:xfrm>
            <a:off x="1397000" y="5156200"/>
            <a:ext cx="9982200" cy="12700"/>
          </a:xfrm>
          <a:prstGeom prst="rect">
            <a:avLst/>
          </a:prstGeom>
          <a:solidFill>
            <a:srgbClr val="EEF0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678E66-DA70-A2AC-9316-A6DBF5A9D37D}"/>
              </a:ext>
            </a:extLst>
          </p:cNvPr>
          <p:cNvSpPr txBox="1"/>
          <p:nvPr/>
        </p:nvSpPr>
        <p:spPr>
          <a:xfrm>
            <a:off x="812800" y="53340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900" b="1">
                <a:solidFill>
                  <a:srgbClr val="DDE1E8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2F1F83-2C36-489E-CB35-73393560903B}"/>
              </a:ext>
            </a:extLst>
          </p:cNvPr>
          <p:cNvSpPr txBox="1"/>
          <p:nvPr/>
        </p:nvSpPr>
        <p:spPr>
          <a:xfrm>
            <a:off x="1397000" y="5384800"/>
            <a:ext cx="4724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550" b="1">
                <a:solidFill>
                  <a:srgbClr val="0F131B"/>
                </a:solidFill>
                <a:latin typeface="Segoe UI" panose="020B0502040204020203" pitchFamily="34" charset="0"/>
              </a:rPr>
              <a:t>Efficiency needs people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3DE3F9-DDD1-977B-5707-6286E6183DA4}"/>
              </a:ext>
            </a:extLst>
          </p:cNvPr>
          <p:cNvSpPr txBox="1"/>
          <p:nvPr/>
        </p:nvSpPr>
        <p:spPr>
          <a:xfrm>
            <a:off x="6248400" y="53848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6C7383"/>
                </a:solidFill>
                <a:latin typeface="Segoe UI" panose="020B0502040204020203" pitchFamily="34" charset="0"/>
              </a:rPr>
              <a:t>Headcount is captured against the same allocation as the output.</a:t>
            </a:r>
            <a:endParaRPr lang="en-IN" sz="125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C52CC-6B77-061B-37A1-F4FF8FBD1B80}"/>
              </a:ext>
            </a:extLst>
          </p:cNvPr>
          <p:cNvSpPr txBox="1"/>
          <p:nvPr/>
        </p:nvSpPr>
        <p:spPr>
          <a:xfrm>
            <a:off x="812800" y="6172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50">
                <a:solidFill>
                  <a:srgbClr val="9AA1AE"/>
                </a:solidFill>
                <a:latin typeface="Segoe UI" panose="020B0502040204020203" pitchFamily="34" charset="0"/>
              </a:rPr>
              <a:t>Each factory's data is isolated · floor PINs are stored hashed · new factories are provisioned by RBC, never self-signup</a:t>
            </a:r>
            <a:endParaRPr lang="en-IN" sz="1150">
              <a:solidFill>
                <a:srgbClr val="9AA1AE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785597-6908-FE66-6D37-498AD021AC4D}"/>
              </a:ext>
            </a:extLst>
          </p:cNvPr>
          <p:cNvSpPr/>
          <p:nvPr/>
        </p:nvSpPr>
        <p:spPr>
          <a:xfrm>
            <a:off x="812800" y="60452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26C91-CDDC-2CA3-1DBA-820FF90492F9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15 / 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FE4683-4D08-2595-C604-510E15CE39B4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</p:spTree>
    <p:extLst>
      <p:ext uri="{BB962C8B-B14F-4D97-AF65-F5344CB8AC3E}">
        <p14:creationId xmlns:p14="http://schemas.microsoft.com/office/powerpoint/2010/main" val="308571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41B15C-6326-723B-F01E-6646F0CFD73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CA521-A8A4-5C72-2FCA-20F3E849109F}"/>
              </a:ext>
            </a:extLst>
          </p:cNvPr>
          <p:cNvSpPr txBox="1"/>
          <p:nvPr/>
        </p:nvSpPr>
        <p:spPr>
          <a:xfrm>
            <a:off x="812800" y="6604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1F5EFF"/>
                </a:solidFill>
                <a:latin typeface="Segoe UI" panose="020B0502040204020203" pitchFamily="34" charset="0"/>
              </a:rPr>
              <a:t>WHAT 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A0AAE-7DA1-ED90-0343-90BA93BD38BE}"/>
              </a:ext>
            </a:extLst>
          </p:cNvPr>
          <p:cNvSpPr txBox="1"/>
          <p:nvPr/>
        </p:nvSpPr>
        <p:spPr>
          <a:xfrm>
            <a:off x="812800" y="1041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4000"/>
              </a:lnSpc>
            </a:pPr>
            <a:r>
              <a:rPr lang="en-US" sz="3800" b="1">
                <a:solidFill>
                  <a:srgbClr val="0F131B"/>
                </a:solidFill>
                <a:latin typeface="Segoe UI" panose="020B0502040204020203" pitchFamily="34" charset="0"/>
              </a:rPr>
              <a:t>One production spine.
Not a stack of spreadsheets.</a:t>
            </a:r>
            <a:endParaRPr lang="en-IN" sz="3800" b="1">
              <a:solidFill>
                <a:srgbClr val="0F131B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1181E8-74A3-D1C0-5FA9-BC40A75C912D}"/>
              </a:ext>
            </a:extLst>
          </p:cNvPr>
          <p:cNvSpPr/>
          <p:nvPr/>
        </p:nvSpPr>
        <p:spPr>
          <a:xfrm>
            <a:off x="812800" y="2489200"/>
            <a:ext cx="5130800" cy="3403600"/>
          </a:xfrm>
          <a:prstGeom prst="roundRect">
            <a:avLst>
              <a:gd name="adj" fmla="val 4478"/>
            </a:avLst>
          </a:prstGeom>
          <a:solidFill>
            <a:srgbClr val="F7F8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64415-4601-D8E6-C7AF-7CF40716908D}"/>
              </a:ext>
            </a:extLst>
          </p:cNvPr>
          <p:cNvSpPr txBox="1"/>
          <p:nvPr/>
        </p:nvSpPr>
        <p:spPr>
          <a:xfrm>
            <a:off x="1117600" y="27432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9AA1AE"/>
                </a:solidFill>
                <a:latin typeface="Segoe UI" panose="020B0502040204020203" pitchFamily="34" charset="0"/>
              </a:rPr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DCF3F-A879-A1A3-C559-BA05FF25BE03}"/>
              </a:ext>
            </a:extLst>
          </p:cNvPr>
          <p:cNvSpPr txBox="1"/>
          <p:nvPr/>
        </p:nvSpPr>
        <p:spPr>
          <a:xfrm>
            <a:off x="1117600" y="3175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4A5160"/>
                </a:solidFill>
                <a:latin typeface="Segoe UI" panose="020B0502040204020203" pitchFamily="34" charset="0"/>
              </a:rPr>
              <a:t>Plan in Excel, output in notebooks</a:t>
            </a:r>
            <a:endParaRPr lang="en-IN" sz="1350">
              <a:solidFill>
                <a:srgbClr val="4A516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F312ED-73C3-F9F3-8BDE-6A19C4A8EB88}"/>
              </a:ext>
            </a:extLst>
          </p:cNvPr>
          <p:cNvSpPr txBox="1"/>
          <p:nvPr/>
        </p:nvSpPr>
        <p:spPr>
          <a:xfrm>
            <a:off x="1117600" y="3683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IN" sz="1350">
                <a:solidFill>
                  <a:srgbClr val="4A5160"/>
                </a:solidFill>
                <a:latin typeface="Segoe UI" panose="020B0502040204020203" pitchFamily="34" charset="0"/>
              </a:rPr>
              <a:t>WIP as a guess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A9164-79B1-BC13-25C4-552E945364DB}"/>
              </a:ext>
            </a:extLst>
          </p:cNvPr>
          <p:cNvSpPr txBox="1"/>
          <p:nvPr/>
        </p:nvSpPr>
        <p:spPr>
          <a:xfrm>
            <a:off x="1117600" y="4191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4A5160"/>
                </a:solidFill>
                <a:latin typeface="Segoe UI" panose="020B0502040204020203" pitchFamily="34" charset="0"/>
              </a:rPr>
              <a:t>Outsource as a phone call</a:t>
            </a:r>
            <a:endParaRPr lang="en-IN" sz="1350">
              <a:solidFill>
                <a:srgbClr val="4A516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82A163-3B9E-2FE6-AB03-FED335282688}"/>
              </a:ext>
            </a:extLst>
          </p:cNvPr>
          <p:cNvSpPr txBox="1"/>
          <p:nvPr/>
        </p:nvSpPr>
        <p:spPr>
          <a:xfrm>
            <a:off x="1117600" y="4699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IN" sz="1350">
                <a:solidFill>
                  <a:srgbClr val="4A5160"/>
                </a:solidFill>
                <a:latin typeface="Segoe UI" panose="020B0502040204020203" pitchFamily="34" charset="0"/>
              </a:rPr>
              <a:t>Efficiency as an opinion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90656D-0385-F63B-A064-57B21119A564}"/>
              </a:ext>
            </a:extLst>
          </p:cNvPr>
          <p:cNvSpPr txBox="1"/>
          <p:nvPr/>
        </p:nvSpPr>
        <p:spPr>
          <a:xfrm>
            <a:off x="1117600" y="5207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4A5160"/>
                </a:solidFill>
                <a:latin typeface="Segoe UI" panose="020B0502040204020203" pitchFamily="34" charset="0"/>
              </a:rPr>
              <a:t>The morning meeting as compilation</a:t>
            </a:r>
            <a:endParaRPr lang="en-IN" sz="1350">
              <a:solidFill>
                <a:srgbClr val="4A516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C9B912-A71E-19C5-62E1-10FFFFA5EBAA}"/>
              </a:ext>
            </a:extLst>
          </p:cNvPr>
          <p:cNvSpPr/>
          <p:nvPr/>
        </p:nvSpPr>
        <p:spPr>
          <a:xfrm>
            <a:off x="6248400" y="2489200"/>
            <a:ext cx="5130800" cy="3403600"/>
          </a:xfrm>
          <a:prstGeom prst="roundRect">
            <a:avLst>
              <a:gd name="adj" fmla="val 4478"/>
            </a:avLst>
          </a:prstGeom>
          <a:solidFill>
            <a:srgbClr val="0F13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2FD09A-FC58-655E-F2CA-4CC3BE3D98A0}"/>
              </a:ext>
            </a:extLst>
          </p:cNvPr>
          <p:cNvSpPr/>
          <p:nvPr/>
        </p:nvSpPr>
        <p:spPr>
          <a:xfrm>
            <a:off x="6248400" y="2489200"/>
            <a:ext cx="51308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22636-43F8-BB0A-3A68-C7B156891169}"/>
              </a:ext>
            </a:extLst>
          </p:cNvPr>
          <p:cNvSpPr txBox="1"/>
          <p:nvPr/>
        </p:nvSpPr>
        <p:spPr>
          <a:xfrm>
            <a:off x="6553200" y="27432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80A8FF"/>
                </a:solidFill>
                <a:latin typeface="Segoe UI" panose="020B0502040204020203" pitchFamily="34" charset="0"/>
              </a:rPr>
              <a:t>WITH PRODIGI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3F0E3-CE8B-010B-E549-342A3BB1B1A4}"/>
              </a:ext>
            </a:extLst>
          </p:cNvPr>
          <p:cNvSpPr txBox="1"/>
          <p:nvPr/>
        </p:nvSpPr>
        <p:spPr>
          <a:xfrm>
            <a:off x="6553200" y="3175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FFFFFF"/>
                </a:solidFill>
                <a:latin typeface="Segoe UI" panose="020B0502040204020203" pitchFamily="34" charset="0"/>
              </a:rPr>
              <a:t>Plan and actuals on the same order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9AA16C-371F-A0A8-3C1C-F80DD3F510CE}"/>
              </a:ext>
            </a:extLst>
          </p:cNvPr>
          <p:cNvSpPr txBox="1"/>
          <p:nvPr/>
        </p:nvSpPr>
        <p:spPr>
          <a:xfrm>
            <a:off x="6553200" y="3683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FFFFFF"/>
                </a:solidFill>
                <a:latin typeface="Segoe UI" panose="020B0502040204020203" pitchFamily="34" charset="0"/>
              </a:rPr>
              <a:t>WIP as received, sent, in transit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C465A-EB66-B2F9-4446-6AD042DB73E9}"/>
              </a:ext>
            </a:extLst>
          </p:cNvPr>
          <p:cNvSpPr txBox="1"/>
          <p:nvPr/>
        </p:nvSpPr>
        <p:spPr>
          <a:xfrm>
            <a:off x="6553200" y="4191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FFFFFF"/>
                </a:solidFill>
                <a:latin typeface="Segoe UI" panose="020B0502040204020203" pitchFamily="34" charset="0"/>
              </a:rPr>
              <a:t>Outsource as a two-leg trace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90E261-8B61-1349-7B9B-89DEE2396A7B}"/>
              </a:ext>
            </a:extLst>
          </p:cNvPr>
          <p:cNvSpPr txBox="1"/>
          <p:nvPr/>
        </p:nvSpPr>
        <p:spPr>
          <a:xfrm>
            <a:off x="6553200" y="4699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FFFFFF"/>
                </a:solidFill>
                <a:latin typeface="Segoe UI" panose="020B0502040204020203" pitchFamily="34" charset="0"/>
              </a:rPr>
              <a:t>Efficiency only when people are logged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978F8F-FD8B-5AF8-67B6-903A5AAD7CD4}"/>
              </a:ext>
            </a:extLst>
          </p:cNvPr>
          <p:cNvSpPr txBox="1"/>
          <p:nvPr/>
        </p:nvSpPr>
        <p:spPr>
          <a:xfrm>
            <a:off x="6553200" y="5207000"/>
            <a:ext cx="452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350">
                <a:solidFill>
                  <a:srgbClr val="FFFFFF"/>
                </a:solidFill>
                <a:latin typeface="Segoe UI" panose="020B0502040204020203" pitchFamily="34" charset="0"/>
              </a:rPr>
              <a:t>The day report already compiled</a:t>
            </a:r>
            <a:endParaRPr lang="en-IN" sz="13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FA9E43-89F8-5D02-658C-34E800DC7A04}"/>
              </a:ext>
            </a:extLst>
          </p:cNvPr>
          <p:cNvSpPr txBox="1"/>
          <p:nvPr/>
        </p:nvSpPr>
        <p:spPr>
          <a:xfrm>
            <a:off x="812800" y="60198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6C7383"/>
                </a:solidFill>
                <a:latin typeface="Segoe UI" panose="020B0502040204020203" pitchFamily="34" charset="0"/>
              </a:rPr>
              <a:t>Visibility, accountability and traceability — the value is operational, not a promised percentage.</a:t>
            </a:r>
            <a:endParaRPr lang="en-IN" sz="1300">
              <a:solidFill>
                <a:srgbClr val="6C7383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36A795-3E45-F2BF-4F6D-2B9708A5C67E}"/>
              </a:ext>
            </a:extLst>
          </p:cNvPr>
          <p:cNvSpPr/>
          <p:nvPr/>
        </p:nvSpPr>
        <p:spPr>
          <a:xfrm>
            <a:off x="812800" y="6324600"/>
            <a:ext cx="10566400" cy="12700"/>
          </a:xfrm>
          <a:prstGeom prst="rect">
            <a:avLst/>
          </a:prstGeom>
          <a:solidFill>
            <a:srgbClr val="DDE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DB98D0-2F52-A294-5C6C-D30951A04563}"/>
              </a:ext>
            </a:extLst>
          </p:cNvPr>
          <p:cNvSpPr txBox="1"/>
          <p:nvPr/>
        </p:nvSpPr>
        <p:spPr>
          <a:xfrm>
            <a:off x="812800" y="6451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4CC635-04DA-5598-4AE0-DE8BFA3D20CC}"/>
              </a:ext>
            </a:extLst>
          </p:cNvPr>
          <p:cNvSpPr txBox="1"/>
          <p:nvPr/>
        </p:nvSpPr>
        <p:spPr>
          <a:xfrm>
            <a:off x="8839200" y="6451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2246764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A13A5-8C4B-B2DF-32FF-E208D10DC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000"/>
            <a:ext cx="12192000" cy="812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EB87EF3-313C-A939-05F0-03BBE78541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31B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C2F1D-0289-C5A0-0FDF-A1F5E1C531B3}"/>
              </a:ext>
            </a:extLst>
          </p:cNvPr>
          <p:cNvSpPr/>
          <p:nvPr/>
        </p:nvSpPr>
        <p:spPr>
          <a:xfrm>
            <a:off x="0" y="0"/>
            <a:ext cx="9398000" cy="6858000"/>
          </a:xfrm>
          <a:prstGeom prst="rect">
            <a:avLst/>
          </a:prstGeom>
          <a:gradFill flip="none" rotWithShape="1">
            <a:gsLst>
              <a:gs pos="0">
                <a:srgbClr val="0F131B">
                  <a:alpha val="90000"/>
                </a:srgbClr>
              </a:gs>
              <a:gs pos="100000">
                <a:srgbClr val="0F131B">
                  <a:alpha val="0"/>
                </a:srgbClr>
              </a:gs>
            </a:gsLst>
            <a:lin ang="0" scaled="1"/>
            <a:tileRect/>
          </a:gra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8F520-3D1E-A8A0-0BD4-764CBCC1CDB8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3D338-09EE-93C3-BE15-059792D21C4E}"/>
              </a:ext>
            </a:extLst>
          </p:cNvPr>
          <p:cNvSpPr txBox="1"/>
          <p:nvPr/>
        </p:nvSpPr>
        <p:spPr>
          <a:xfrm>
            <a:off x="812800" y="7112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150" b="1">
                <a:solidFill>
                  <a:srgbClr val="80A8FF"/>
                </a:solidFill>
                <a:latin typeface="Segoe UI" panose="020B0502040204020203" pitchFamily="34" charset="0"/>
              </a:rPr>
              <a:t>WHERE PRODIGI IS GOING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004497-2220-73EA-868E-AA1D5C8BA362}"/>
              </a:ext>
            </a:extLst>
          </p:cNvPr>
          <p:cNvSpPr txBox="1"/>
          <p:nvPr/>
        </p:nvSpPr>
        <p:spPr>
          <a:xfrm>
            <a:off x="812800" y="11684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4400" b="1">
                <a:solidFill>
                  <a:srgbClr val="FFFFFF"/>
                </a:solidFill>
                <a:latin typeface="Segoe UI" panose="020B0502040204020203" pitchFamily="34" charset="0"/>
              </a:rPr>
              <a:t>Own your production.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CD2BD9-8FEF-94D4-E31E-EB788DD6B659}"/>
              </a:ext>
            </a:extLst>
          </p:cNvPr>
          <p:cNvSpPr/>
          <p:nvPr/>
        </p:nvSpPr>
        <p:spPr>
          <a:xfrm>
            <a:off x="812800" y="2006600"/>
            <a:ext cx="914400" cy="38100"/>
          </a:xfrm>
          <a:prstGeom prst="rect">
            <a:avLst/>
          </a:prstGeom>
          <a:solidFill>
            <a:srgbClr val="1F5E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A302B-83AE-84DE-45D5-7E06E8D5AE4C}"/>
              </a:ext>
            </a:extLst>
          </p:cNvPr>
          <p:cNvSpPr txBox="1"/>
          <p:nvPr/>
        </p:nvSpPr>
        <p:spPr>
          <a:xfrm>
            <a:off x="812800" y="2362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700">
                <a:solidFill>
                  <a:srgbClr val="DDE1E8"/>
                </a:solidFill>
                <a:latin typeface="Segoe UI" panose="020B0502040204020203" pitchFamily="34" charset="0"/>
              </a:rPr>
              <a:t>Plan it, capture it, measure it — in one system
built for how garments are actually made.</a:t>
            </a:r>
            <a:endParaRPr lang="en-IN" sz="1700">
              <a:solidFill>
                <a:srgbClr val="DDE1E8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00996-BD8D-305C-A073-43F14236B19E}"/>
              </a:ext>
            </a:extLst>
          </p:cNvPr>
          <p:cNvSpPr txBox="1"/>
          <p:nvPr/>
        </p:nvSpPr>
        <p:spPr>
          <a:xfrm>
            <a:off x="812800" y="34036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00" b="1">
                <a:solidFill>
                  <a:srgbClr val="80A8FF"/>
                </a:solidFill>
                <a:latin typeface="Segoe UI" panose="020B0502040204020203" pitchFamily="34" charset="0"/>
              </a:rPr>
              <a:t>The operating system for garment production.</a:t>
            </a:r>
            <a:endParaRPr lang="en-IN" sz="1900" b="1">
              <a:solidFill>
                <a:srgbClr val="80A8FF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E7222-E096-C965-44FF-DBE0598CEBDF}"/>
              </a:ext>
            </a:extLst>
          </p:cNvPr>
          <p:cNvSpPr txBox="1"/>
          <p:nvPr/>
        </p:nvSpPr>
        <p:spPr>
          <a:xfrm>
            <a:off x="812800" y="38354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sz="1300">
                <a:solidFill>
                  <a:srgbClr val="9AA1AE"/>
                </a:solidFill>
                <a:latin typeface="Segoe UI" panose="020B0502040204020203" pitchFamily="34" charset="0"/>
              </a:rPr>
              <a:t>Inventory, costing and finance stay out of scope. Prodigi feeds them — never duplicates them.</a:t>
            </a:r>
            <a:endParaRPr lang="en-IN" sz="1300">
              <a:solidFill>
                <a:srgbClr val="9AA1AE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83BBB9-5F6F-0640-5D0A-04F460ED9589}"/>
              </a:ext>
            </a:extLst>
          </p:cNvPr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0F131B">
              <a:alpha val="94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0612A-3444-9EF2-B12B-E535803EE5ED}"/>
              </a:ext>
            </a:extLst>
          </p:cNvPr>
          <p:cNvSpPr/>
          <p:nvPr/>
        </p:nvSpPr>
        <p:spPr>
          <a:xfrm>
            <a:off x="0" y="4902200"/>
            <a:ext cx="12192000" cy="12700"/>
          </a:xfrm>
          <a:prstGeom prst="rect">
            <a:avLst/>
          </a:prstGeom>
          <a:solidFill>
            <a:srgbClr val="2A3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03504-7D0B-2660-6E82-CF187E9A47ED}"/>
              </a:ext>
            </a:extLst>
          </p:cNvPr>
          <p:cNvSpPr txBox="1"/>
          <p:nvPr/>
        </p:nvSpPr>
        <p:spPr>
          <a:xfrm>
            <a:off x="812800" y="5207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80A8FF"/>
                </a:solidFill>
                <a:latin typeface="Segoe UI" panose="020B0502040204020203" pitchFamily="34" charset="0"/>
              </a:rPr>
              <a:t>NOW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5AE054-8EAF-40BF-E622-4BB698D7C819}"/>
              </a:ext>
            </a:extLst>
          </p:cNvPr>
          <p:cNvSpPr txBox="1"/>
          <p:nvPr/>
        </p:nvSpPr>
        <p:spPr>
          <a:xfrm>
            <a:off x="812800" y="54864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250">
                <a:solidFill>
                  <a:srgbClr val="C2C8D2"/>
                </a:solidFill>
                <a:latin typeface="Segoe UI" panose="020B0502040204020203" pitchFamily="34" charset="0"/>
              </a:rPr>
              <a:t>Configure · plan · capture
handover · report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9D96FB-8A37-7FE3-36AD-DD26898EFC75}"/>
              </a:ext>
            </a:extLst>
          </p:cNvPr>
          <p:cNvSpPr txBox="1"/>
          <p:nvPr/>
        </p:nvSpPr>
        <p:spPr>
          <a:xfrm>
            <a:off x="3759200" y="5207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80A8FF"/>
                </a:solidFill>
                <a:latin typeface="Segoe UI" panose="020B0502040204020203" pitchFamily="34" charset="0"/>
              </a:rPr>
              <a:t>NEXT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1F54D1-C97B-6D62-76CD-DB1D3D0FBCCB}"/>
              </a:ext>
            </a:extLst>
          </p:cNvPr>
          <p:cNvSpPr txBox="1"/>
          <p:nvPr/>
        </p:nvSpPr>
        <p:spPr>
          <a:xfrm>
            <a:off x="3759200" y="54864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C2C8D2"/>
                </a:solidFill>
                <a:latin typeface="Segoe UI" panose="020B0502040204020203" pitchFamily="34" charset="0"/>
              </a:rPr>
              <a:t>Company layer · finer desktop
roles · stronger audit trail</a:t>
            </a:r>
            <a:endParaRPr lang="en-IN" sz="1250">
              <a:solidFill>
                <a:srgbClr val="C2C8D2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B7028-41DA-6E22-4E08-6A445D3F038D}"/>
              </a:ext>
            </a:extLst>
          </p:cNvPr>
          <p:cNvSpPr txBox="1"/>
          <p:nvPr/>
        </p:nvSpPr>
        <p:spPr>
          <a:xfrm>
            <a:off x="6705600" y="5207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80A8FF"/>
                </a:solidFill>
                <a:latin typeface="Segoe UI" panose="020B0502040204020203" pitchFamily="34" charset="0"/>
              </a:rPr>
              <a:t>LATER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3D85C-916F-8A6F-B116-B6233C927552}"/>
              </a:ext>
            </a:extLst>
          </p:cNvPr>
          <p:cNvSpPr txBox="1"/>
          <p:nvPr/>
        </p:nvSpPr>
        <p:spPr>
          <a:xfrm>
            <a:off x="6705600" y="5486400"/>
            <a:ext cx="261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50">
                <a:solidFill>
                  <a:srgbClr val="C2C8D2"/>
                </a:solidFill>
                <a:latin typeface="Segoe UI" panose="020B0502040204020203" pitchFamily="34" charset="0"/>
              </a:rPr>
              <a:t>Buyer WIP view · supplier
portal · machine capture</a:t>
            </a:r>
            <a:endParaRPr lang="en-IN" sz="1250">
              <a:solidFill>
                <a:srgbClr val="C2C8D2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A1D52D-136A-83AA-337C-A09285A0FF60}"/>
              </a:ext>
            </a:extLst>
          </p:cNvPr>
          <p:cNvSpPr/>
          <p:nvPr/>
        </p:nvSpPr>
        <p:spPr>
          <a:xfrm>
            <a:off x="9677400" y="5181600"/>
            <a:ext cx="12700" cy="914400"/>
          </a:xfrm>
          <a:prstGeom prst="rect">
            <a:avLst/>
          </a:prstGeom>
          <a:solidFill>
            <a:srgbClr val="2A30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DFB77F-B54A-89C9-1B8D-FEE43D4FF2E3}"/>
              </a:ext>
            </a:extLst>
          </p:cNvPr>
          <p:cNvSpPr txBox="1"/>
          <p:nvPr/>
        </p:nvSpPr>
        <p:spPr>
          <a:xfrm>
            <a:off x="10033000" y="52070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80A8FF"/>
                </a:solidFill>
                <a:latin typeface="Segoe UI" panose="020B0502040204020203" pitchFamily="34" charset="0"/>
              </a:rPr>
              <a:t>CONTACT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78F289-3CC1-5B80-B7D9-FEB45B4B0786}"/>
              </a:ext>
            </a:extLst>
          </p:cNvPr>
          <p:cNvSpPr txBox="1"/>
          <p:nvPr/>
        </p:nvSpPr>
        <p:spPr>
          <a:xfrm>
            <a:off x="10033000" y="54864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50">
                <a:solidFill>
                  <a:srgbClr val="FFFFFF"/>
                </a:solidFill>
                <a:latin typeface="Segoe UI" panose="020B0502040204020203" pitchFamily="34" charset="0"/>
              </a:rPr>
              <a:t>rbc@rajeshbheda.com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E85E9-3AD1-161E-A94D-9B5EDF31D00D}"/>
              </a:ext>
            </a:extLst>
          </p:cNvPr>
          <p:cNvSpPr txBox="1"/>
          <p:nvPr/>
        </p:nvSpPr>
        <p:spPr>
          <a:xfrm>
            <a:off x="10033000" y="57658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250">
                <a:solidFill>
                  <a:srgbClr val="9AA1AE"/>
                </a:solidFill>
                <a:latin typeface="Segoe UI" panose="020B0502040204020203" pitchFamily="34" charset="0"/>
              </a:rPr>
              <a:t>www.rajeshbheda.com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74D8DF-76D7-B082-E1B4-06E15B722EC5}"/>
              </a:ext>
            </a:extLst>
          </p:cNvPr>
          <p:cNvSpPr txBox="1"/>
          <p:nvPr/>
        </p:nvSpPr>
        <p:spPr>
          <a:xfrm>
            <a:off x="812800" y="63754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N" sz="1050" b="1">
                <a:solidFill>
                  <a:srgbClr val="6C7383"/>
                </a:solidFill>
                <a:latin typeface="Segoe UI" panose="020B0502040204020203" pitchFamily="34" charset="0"/>
              </a:rPr>
              <a:t>PRODIGI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56EB9F-0699-9DF1-AFDF-53FACDEF7F09}"/>
              </a:ext>
            </a:extLst>
          </p:cNvPr>
          <p:cNvSpPr txBox="1"/>
          <p:nvPr/>
        </p:nvSpPr>
        <p:spPr>
          <a:xfrm>
            <a:off x="8839200" y="6375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N" sz="1050">
                <a:solidFill>
                  <a:srgbClr val="6C7383"/>
                </a:solidFill>
                <a:latin typeface="Segoe UI" panose="020B0502040204020203" pitchFamily="34" charset="0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3042909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</Words>
  <Application>Microsoft Office PowerPoint</Application>
  <PresentationFormat>Custom</PresentationFormat>
  <Paragraphs>275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Rahil MD RBC</dc:creator>
  <cp:lastModifiedBy>Rahil MD RBC</cp:lastModifiedBy>
  <cp:revision>1</cp:revision>
  <dcterms:created xsi:type="dcterms:W3CDTF">2026-08-13T07:19:28Z</dcterms:created>
  <dcterms:modified xsi:type="dcterms:W3CDTF">2026-08-13T07:19:28Z</dcterms:modified>
</cp:coreProperties>
</file>